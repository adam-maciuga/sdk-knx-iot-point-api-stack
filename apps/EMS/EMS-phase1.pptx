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331" r:id="rId3"/>
    <p:sldId id="257" r:id="rId4"/>
    <p:sldId id="327" r:id="rId5"/>
    <p:sldId id="328" r:id="rId6"/>
    <p:sldId id="330" r:id="rId7"/>
    <p:sldId id="329" r:id="rId8"/>
    <p:sldId id="332" r:id="rId9"/>
    <p:sldId id="333" r:id="rId10"/>
    <p:sldId id="337" r:id="rId11"/>
    <p:sldId id="334" r:id="rId12"/>
    <p:sldId id="335" r:id="rId13"/>
    <p:sldId id="338" r:id="rId14"/>
    <p:sldId id="336" r:id="rId15"/>
    <p:sldId id="326" r:id="rId16"/>
  </p:sldIdLst>
  <p:sldSz cx="12190413" cy="6859588"/>
  <p:notesSz cx="6858000" cy="9144000"/>
  <p:defaultTextStyle>
    <a:defPPr>
      <a:defRPr lang="en-US"/>
    </a:defPPr>
    <a:lvl1pPr algn="l" defTabSz="609585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609585" algn="l" defTabSz="609585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1219170" algn="l" defTabSz="609585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828754" algn="l" defTabSz="609585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2438339" algn="l" defTabSz="609585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3047924" algn="l" defTabSz="121917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3657509" algn="l" defTabSz="121917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4267093" algn="l" defTabSz="121917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4876678" algn="l" defTabSz="121917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6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A0A3"/>
    <a:srgbClr val="319C32"/>
    <a:srgbClr val="005FAA"/>
    <a:srgbClr val="FF4B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76" y="172"/>
      </p:cViewPr>
      <p:guideLst>
        <p:guide orient="horz" pos="2160"/>
        <p:guide pos="2880"/>
        <p:guide orient="horz" pos="2161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43680DA0-E069-47B2-820F-B17760B79652}" type="datetimeFigureOut">
              <a:rPr lang="en-US"/>
              <a:pPr>
                <a:defRPr/>
              </a:pPr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72E2B0CE-7D60-4185-A293-7FD1A08052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179E6F39-A840-433A-BE22-D3D3BE5AC0DE}" type="datetimeFigureOut">
              <a:rPr lang="en-GB" altLang="en-US"/>
              <a:pPr>
                <a:defRPr/>
              </a:pPr>
              <a:t>17/10/2025</a:t>
            </a:fld>
            <a:endParaRPr lang="en-GB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8468829-D356-462D-8529-DA09F0ACC71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1pPr>
    <a:lvl2pPr marL="609585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121917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828754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2438339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EV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6824" y="2123206"/>
            <a:ext cx="9186347" cy="996273"/>
          </a:xfrm>
        </p:spPr>
        <p:txBody>
          <a:bodyPr/>
          <a:lstStyle>
            <a:lvl1pPr algn="l">
              <a:defRPr sz="3700" baseline="0">
                <a:latin typeface="Gotham Medium"/>
              </a:defRPr>
            </a:lvl1pPr>
          </a:lstStyle>
          <a:p>
            <a:r>
              <a:rPr lang="en-US" dirty="0"/>
              <a:t>&lt;&lt;Main Title&gt;&gt;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6822" y="3393840"/>
            <a:ext cx="5790446" cy="481805"/>
          </a:xfrm>
        </p:spPr>
        <p:txBody>
          <a:bodyPr/>
          <a:lstStyle>
            <a:lvl1pPr marL="0" indent="0" algn="l">
              <a:buNone/>
              <a:defRPr sz="2700">
                <a:solidFill>
                  <a:schemeClr val="tx1"/>
                </a:solidFill>
                <a:latin typeface="Gotham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  <p:pic>
        <p:nvPicPr>
          <p:cNvPr id="10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62950" y="4660900"/>
            <a:ext cx="3443288" cy="173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9775" y="279400"/>
            <a:ext cx="14652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 userDrawn="1"/>
        </p:nvSpPr>
        <p:spPr>
          <a:xfrm>
            <a:off x="630238" y="1020763"/>
            <a:ext cx="4224337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rPr>
              <a:t>Smart home and building solutions.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rPr>
              <a:t>Global. Secure. Connected.</a:t>
            </a:r>
          </a:p>
        </p:txBody>
      </p:sp>
    </p:spTree>
    <p:extLst>
      <p:ext uri="{BB962C8B-B14F-4D97-AF65-F5344CB8AC3E}">
        <p14:creationId xmlns:p14="http://schemas.microsoft.com/office/powerpoint/2010/main" val="1234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V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920631" y="3148743"/>
            <a:ext cx="9185138" cy="668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7" tIns="60958" rIns="121917" bIns="60958" anchor="ctr"/>
          <a:lstStyle>
            <a:lvl1pPr marL="342900" indent="-342900" algn="l" defTabSz="457200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500" kern="1200">
                <a:solidFill>
                  <a:schemeClr val="tx1"/>
                </a:solidFill>
                <a:latin typeface="Gotham Medium"/>
                <a:ea typeface="MS PGothic" panose="020B0600070205080204" pitchFamily="34" charset="-128"/>
                <a:cs typeface="MS PGothic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s-ES_tradnl" err="1"/>
              <a:t>Title</a:t>
            </a:r>
            <a:r>
              <a:rPr lang="es-ES_tradnl"/>
              <a:t> 2 </a:t>
            </a:r>
            <a:r>
              <a:rPr lang="en-US"/>
              <a:t>&lt;&lt;e.g. agenda point&gt;&gt;</a:t>
            </a:r>
          </a:p>
        </p:txBody>
      </p:sp>
      <p:sp>
        <p:nvSpPr>
          <p:cNvPr id="10" name="Subtitle 2"/>
          <p:cNvSpPr txBox="1">
            <a:spLocks/>
          </p:cNvSpPr>
          <p:nvPr userDrawn="1"/>
        </p:nvSpPr>
        <p:spPr bwMode="auto">
          <a:xfrm>
            <a:off x="1248671" y="3868046"/>
            <a:ext cx="5790446" cy="48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7" tIns="60958" rIns="121917" bIns="60958"/>
          <a:lstStyle>
            <a:lvl1pPr marL="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&lt;&lt;subtitle&gt;&gt;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920026" y="1449491"/>
            <a:ext cx="9186347" cy="719643"/>
          </a:xfrm>
        </p:spPr>
        <p:txBody>
          <a:bodyPr/>
          <a:lstStyle>
            <a:lvl1pPr marL="457189" indent="-457189" algn="l">
              <a:buFont typeface="Wingdings" panose="05000000000000000000" pitchFamily="2" charset="2"/>
              <a:buChar char="§"/>
              <a:defRPr sz="3300">
                <a:latin typeface="Gotham Medium"/>
              </a:defRPr>
            </a:lvl1pPr>
          </a:lstStyle>
          <a:p>
            <a:r>
              <a:rPr lang="en-US" dirty="0"/>
              <a:t>Title 1 &lt;&lt;e.g. agenda point&gt;&gt;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48671" y="2169134"/>
            <a:ext cx="5790446" cy="481805"/>
          </a:xfrm>
        </p:spPr>
        <p:txBody>
          <a:bodyPr/>
          <a:lstStyle>
            <a:lvl1pPr marL="0" indent="0" algn="l">
              <a:buNone/>
              <a:defRPr sz="2000" baseline="0">
                <a:solidFill>
                  <a:schemeClr val="tx1"/>
                </a:solidFill>
                <a:latin typeface="Gotham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  <p:pic>
        <p:nvPicPr>
          <p:cNvPr id="28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250" y="439738"/>
            <a:ext cx="11049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ángulo 17"/>
          <p:cNvSpPr>
            <a:spLocks noChangeArrowheads="1"/>
          </p:cNvSpPr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/>
            <a:endParaRPr lang="es-ES" altLang="en-US">
              <a:solidFill>
                <a:srgbClr val="FFFFFF"/>
              </a:solidFill>
            </a:endParaRPr>
          </a:p>
        </p:txBody>
      </p:sp>
      <p:sp>
        <p:nvSpPr>
          <p:cNvPr id="30" name="TextBox 7"/>
          <p:cNvSpPr txBox="1">
            <a:spLocks noChangeArrowheads="1"/>
          </p:cNvSpPr>
          <p:nvPr userDrawn="1"/>
        </p:nvSpPr>
        <p:spPr bwMode="auto">
          <a:xfrm>
            <a:off x="203200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31" name="Imagen 21" descr="Worldmap.jp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8350" y="6340475"/>
            <a:ext cx="11493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TextBox 11"/>
          <p:cNvSpPr txBox="1">
            <a:spLocks noChangeArrowheads="1"/>
          </p:cNvSpPr>
          <p:nvPr userDrawn="1"/>
        </p:nvSpPr>
        <p:spPr bwMode="auto">
          <a:xfrm>
            <a:off x="11168063" y="6340475"/>
            <a:ext cx="8620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/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</p:spTree>
    <p:extLst>
      <p:ext uri="{BB962C8B-B14F-4D97-AF65-F5344CB8AC3E}">
        <p14:creationId xmlns:p14="http://schemas.microsoft.com/office/powerpoint/2010/main" val="3426927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 userDrawn="1"/>
        </p:nvCxnSpPr>
        <p:spPr>
          <a:xfrm>
            <a:off x="0" y="1473541"/>
            <a:ext cx="12190413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52908" y="1001035"/>
            <a:ext cx="11149754" cy="444603"/>
          </a:xfrm>
        </p:spPr>
        <p:txBody>
          <a:bodyPr/>
          <a:lstStyle>
            <a:lvl1pPr marL="0" indent="0" algn="ctr">
              <a:buNone/>
              <a:defRPr sz="2700">
                <a:latin typeface="Gotham Medium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&lt;&lt;Title of slide&gt;&gt;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1045802" y="2376814"/>
            <a:ext cx="4890677" cy="644900"/>
          </a:xfrm>
        </p:spPr>
        <p:txBody>
          <a:bodyPr/>
          <a:lstStyle>
            <a:lvl1pPr algn="l" defTabSz="609585" rtl="0" eaLnBrk="1" fontAlgn="base" hangingPunct="1">
              <a:spcBef>
                <a:spcPct val="0"/>
              </a:spcBef>
              <a:spcAft>
                <a:spcPct val="0"/>
              </a:spcAft>
              <a:defRPr lang="en-US" sz="37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&lt;&lt;Headline&gt;&gt;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1546056" y="3299589"/>
            <a:ext cx="4390420" cy="1330633"/>
          </a:xfrm>
        </p:spPr>
        <p:txBody>
          <a:bodyPr/>
          <a:lstStyle>
            <a:lvl1pPr marL="0" indent="0">
              <a:buNone/>
              <a:defRPr lang="en-US" sz="20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5936478" y="1927672"/>
            <a:ext cx="6253935" cy="3136039"/>
          </a:xfrm>
        </p:spPr>
        <p:txBody>
          <a:bodyPr/>
          <a:lstStyle/>
          <a:p>
            <a:pPr lvl="0"/>
            <a:endParaRPr lang="en-US" noProof="0"/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250" y="439738"/>
            <a:ext cx="11049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ángulo 17"/>
          <p:cNvSpPr>
            <a:spLocks noChangeArrowheads="1"/>
          </p:cNvSpPr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/>
            <a:endParaRPr lang="es-ES" altLang="en-US">
              <a:solidFill>
                <a:srgbClr val="FFFFFF"/>
              </a:solidFill>
            </a:endParaRPr>
          </a:p>
        </p:txBody>
      </p:sp>
      <p:sp>
        <p:nvSpPr>
          <p:cNvPr id="15" name="TextBox 7"/>
          <p:cNvSpPr txBox="1">
            <a:spLocks noChangeArrowheads="1"/>
          </p:cNvSpPr>
          <p:nvPr userDrawn="1"/>
        </p:nvSpPr>
        <p:spPr bwMode="auto">
          <a:xfrm>
            <a:off x="203200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7" name="Imagen 21" descr="Worldmap.jp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8350" y="6340475"/>
            <a:ext cx="11493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Box 11"/>
          <p:cNvSpPr txBox="1">
            <a:spLocks noChangeArrowheads="1"/>
          </p:cNvSpPr>
          <p:nvPr userDrawn="1"/>
        </p:nvSpPr>
        <p:spPr bwMode="auto">
          <a:xfrm>
            <a:off x="11168063" y="6340475"/>
            <a:ext cx="8620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/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</p:spTree>
    <p:extLst>
      <p:ext uri="{BB962C8B-B14F-4D97-AF65-F5344CB8AC3E}">
        <p14:creationId xmlns:p14="http://schemas.microsoft.com/office/powerpoint/2010/main" val="63327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20"/>
          <p:cNvCxnSpPr/>
          <p:nvPr userDrawn="1"/>
        </p:nvCxnSpPr>
        <p:spPr>
          <a:xfrm>
            <a:off x="0" y="1473541"/>
            <a:ext cx="12190413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452908" y="1001035"/>
            <a:ext cx="11149754" cy="444603"/>
          </a:xfrm>
        </p:spPr>
        <p:txBody>
          <a:bodyPr/>
          <a:lstStyle>
            <a:lvl1pPr marL="0" indent="0" algn="ctr">
              <a:buNone/>
              <a:defRPr sz="2700">
                <a:latin typeface="Gotham Medium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643383" y="1915761"/>
            <a:ext cx="2415104" cy="574504"/>
          </a:xfrm>
        </p:spPr>
        <p:txBody>
          <a:bodyPr/>
          <a:lstStyle>
            <a:lvl1pPr algn="l" defTabSz="609585" rtl="0" eaLnBrk="1" fontAlgn="base" hangingPunct="1">
              <a:spcBef>
                <a:spcPct val="0"/>
              </a:spcBef>
              <a:spcAft>
                <a:spcPct val="0"/>
              </a:spcAft>
              <a:defRPr lang="en-US" sz="19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418155" y="1761851"/>
            <a:ext cx="4390420" cy="932988"/>
          </a:xfrm>
        </p:spPr>
        <p:txBody>
          <a:bodyPr/>
          <a:lstStyle>
            <a:lvl1pPr marL="0" indent="0"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8518475" y="1501446"/>
            <a:ext cx="3671938" cy="140276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661530" y="3587108"/>
            <a:ext cx="2415104" cy="574504"/>
          </a:xfrm>
        </p:spPr>
        <p:txBody>
          <a:bodyPr/>
          <a:lstStyle>
            <a:lvl1pPr algn="l" defTabSz="609585" rtl="0" eaLnBrk="1" fontAlgn="base" hangingPunct="1">
              <a:spcBef>
                <a:spcPct val="0"/>
              </a:spcBef>
              <a:spcAft>
                <a:spcPct val="0"/>
              </a:spcAft>
              <a:defRPr lang="en-US" sz="19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3436302" y="3433199"/>
            <a:ext cx="4390420" cy="932988"/>
          </a:xfrm>
        </p:spPr>
        <p:txBody>
          <a:bodyPr/>
          <a:lstStyle>
            <a:lvl1pPr marL="0" indent="0"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19" name="Picture Placeholder 20"/>
          <p:cNvSpPr>
            <a:spLocks noGrp="1"/>
          </p:cNvSpPr>
          <p:nvPr>
            <p:ph type="pic" sz="quarter" idx="16"/>
          </p:nvPr>
        </p:nvSpPr>
        <p:spPr>
          <a:xfrm>
            <a:off x="8536622" y="3172794"/>
            <a:ext cx="3671938" cy="140276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668784" y="5282951"/>
            <a:ext cx="2415104" cy="574504"/>
          </a:xfrm>
        </p:spPr>
        <p:txBody>
          <a:bodyPr/>
          <a:lstStyle>
            <a:lvl1pPr algn="l" defTabSz="609585" rtl="0" eaLnBrk="1" fontAlgn="base" hangingPunct="1">
              <a:spcBef>
                <a:spcPct val="0"/>
              </a:spcBef>
              <a:spcAft>
                <a:spcPct val="0"/>
              </a:spcAft>
              <a:defRPr lang="en-US" sz="19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3443556" y="5129043"/>
            <a:ext cx="4390420" cy="932988"/>
          </a:xfrm>
        </p:spPr>
        <p:txBody>
          <a:bodyPr/>
          <a:lstStyle>
            <a:lvl1pPr marL="0" indent="0"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3" name="Picture Placeholder 20"/>
          <p:cNvSpPr>
            <a:spLocks noGrp="1"/>
          </p:cNvSpPr>
          <p:nvPr>
            <p:ph type="pic" sz="quarter" idx="19"/>
          </p:nvPr>
        </p:nvSpPr>
        <p:spPr>
          <a:xfrm>
            <a:off x="8543876" y="4868638"/>
            <a:ext cx="3671938" cy="1402765"/>
          </a:xfrm>
        </p:spPr>
        <p:txBody>
          <a:bodyPr/>
          <a:lstStyle/>
          <a:p>
            <a:pPr lvl="0"/>
            <a:endParaRPr lang="en-US" noProof="0"/>
          </a:p>
        </p:txBody>
      </p:sp>
      <p:pic>
        <p:nvPicPr>
          <p:cNvPr id="28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250" y="439738"/>
            <a:ext cx="11049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ángulo 17"/>
          <p:cNvSpPr>
            <a:spLocks noChangeArrowheads="1"/>
          </p:cNvSpPr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/>
            <a:endParaRPr lang="es-ES" altLang="en-US">
              <a:solidFill>
                <a:srgbClr val="FFFFFF"/>
              </a:solidFill>
            </a:endParaRPr>
          </a:p>
        </p:txBody>
      </p:sp>
      <p:sp>
        <p:nvSpPr>
          <p:cNvPr id="30" name="TextBox 7"/>
          <p:cNvSpPr txBox="1">
            <a:spLocks noChangeArrowheads="1"/>
          </p:cNvSpPr>
          <p:nvPr userDrawn="1"/>
        </p:nvSpPr>
        <p:spPr bwMode="auto">
          <a:xfrm>
            <a:off x="203200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31" name="Imagen 21" descr="Worldmap.jp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8350" y="6340475"/>
            <a:ext cx="11493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TextBox 11"/>
          <p:cNvSpPr txBox="1">
            <a:spLocks noChangeArrowheads="1"/>
          </p:cNvSpPr>
          <p:nvPr userDrawn="1"/>
        </p:nvSpPr>
        <p:spPr bwMode="auto">
          <a:xfrm>
            <a:off x="11168063" y="6340475"/>
            <a:ext cx="8620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/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</p:spTree>
    <p:extLst>
      <p:ext uri="{BB962C8B-B14F-4D97-AF65-F5344CB8AC3E}">
        <p14:creationId xmlns:p14="http://schemas.microsoft.com/office/powerpoint/2010/main" val="392541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RGE PICTU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452909" y="1477395"/>
            <a:ext cx="11737504" cy="4836872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52908" y="1001035"/>
            <a:ext cx="11149754" cy="444603"/>
          </a:xfrm>
        </p:spPr>
        <p:txBody>
          <a:bodyPr/>
          <a:lstStyle>
            <a:lvl1pPr marL="0" indent="0" algn="ctr">
              <a:buNone/>
              <a:defRPr sz="2700">
                <a:latin typeface="Gotham Medium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1078031" y="2021016"/>
            <a:ext cx="4390420" cy="1330633"/>
          </a:xfrm>
        </p:spPr>
        <p:txBody>
          <a:bodyPr/>
          <a:lstStyle>
            <a:lvl1pPr marL="0" indent="0">
              <a:buNone/>
              <a:defRPr lang="en-US" sz="2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pic>
        <p:nvPicPr>
          <p:cNvPr id="10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250" y="439738"/>
            <a:ext cx="11049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ángulo 17"/>
          <p:cNvSpPr>
            <a:spLocks noChangeArrowheads="1"/>
          </p:cNvSpPr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/>
            <a:endParaRPr lang="es-ES" altLang="en-US">
              <a:solidFill>
                <a:srgbClr val="FFFFFF"/>
              </a:solidFill>
            </a:endParaRPr>
          </a:p>
        </p:txBody>
      </p:sp>
      <p:sp>
        <p:nvSpPr>
          <p:cNvPr id="12" name="TextBox 7"/>
          <p:cNvSpPr txBox="1">
            <a:spLocks noChangeArrowheads="1"/>
          </p:cNvSpPr>
          <p:nvPr userDrawn="1"/>
        </p:nvSpPr>
        <p:spPr bwMode="auto">
          <a:xfrm>
            <a:off x="203200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3" name="Imagen 21" descr="Worldmap.jp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8350" y="6340475"/>
            <a:ext cx="11493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1"/>
          <p:cNvSpPr txBox="1">
            <a:spLocks noChangeArrowheads="1"/>
          </p:cNvSpPr>
          <p:nvPr userDrawn="1"/>
        </p:nvSpPr>
        <p:spPr bwMode="auto">
          <a:xfrm>
            <a:off x="11168063" y="6340475"/>
            <a:ext cx="8620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/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</p:spTree>
    <p:extLst>
      <p:ext uri="{BB962C8B-B14F-4D97-AF65-F5344CB8AC3E}">
        <p14:creationId xmlns:p14="http://schemas.microsoft.com/office/powerpoint/2010/main" val="1849940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2645489" y="1466732"/>
            <a:ext cx="7348110" cy="444603"/>
          </a:xfrm>
        </p:spPr>
        <p:txBody>
          <a:bodyPr/>
          <a:lstStyle>
            <a:lvl1pPr marL="0" indent="0" algn="ctr">
              <a:buNone/>
              <a:defRPr sz="2700" baseline="0">
                <a:latin typeface="Gotham Medium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4021145" y="4999404"/>
            <a:ext cx="5049829" cy="658635"/>
          </a:xfrm>
        </p:spPr>
        <p:txBody>
          <a:bodyPr/>
          <a:lstStyle>
            <a:lvl1pPr marL="0" indent="0" algn="ctr">
              <a:buNone/>
              <a:defRPr lang="en-US" sz="19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media&gt;&gt;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3" name="Media Placeholder 2"/>
          <p:cNvSpPr>
            <a:spLocks noGrp="1"/>
          </p:cNvSpPr>
          <p:nvPr>
            <p:ph type="media" sz="quarter" idx="14"/>
          </p:nvPr>
        </p:nvSpPr>
        <p:spPr>
          <a:xfrm>
            <a:off x="2645489" y="2021356"/>
            <a:ext cx="7348110" cy="286451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icon to add media</a:t>
            </a:r>
          </a:p>
        </p:txBody>
      </p:sp>
      <p:pic>
        <p:nvPicPr>
          <p:cNvPr id="10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250" y="439738"/>
            <a:ext cx="11049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ángulo 17"/>
          <p:cNvSpPr>
            <a:spLocks noChangeArrowheads="1"/>
          </p:cNvSpPr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/>
            <a:endParaRPr lang="es-ES" altLang="en-US">
              <a:solidFill>
                <a:srgbClr val="FFFFFF"/>
              </a:solidFill>
            </a:endParaRPr>
          </a:p>
        </p:txBody>
      </p:sp>
      <p:sp>
        <p:nvSpPr>
          <p:cNvPr id="12" name="TextBox 7"/>
          <p:cNvSpPr txBox="1">
            <a:spLocks noChangeArrowheads="1"/>
          </p:cNvSpPr>
          <p:nvPr userDrawn="1"/>
        </p:nvSpPr>
        <p:spPr bwMode="auto">
          <a:xfrm>
            <a:off x="203200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3" name="Imagen 21" descr="Worldmap.jp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8350" y="6340475"/>
            <a:ext cx="11493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1"/>
          <p:cNvSpPr txBox="1">
            <a:spLocks noChangeArrowheads="1"/>
          </p:cNvSpPr>
          <p:nvPr userDrawn="1"/>
        </p:nvSpPr>
        <p:spPr bwMode="auto">
          <a:xfrm>
            <a:off x="11168063" y="6340475"/>
            <a:ext cx="8620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/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</p:spTree>
    <p:extLst>
      <p:ext uri="{BB962C8B-B14F-4D97-AF65-F5344CB8AC3E}">
        <p14:creationId xmlns:p14="http://schemas.microsoft.com/office/powerpoint/2010/main" val="150523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8"/>
          <p:cNvSpPr txBox="1"/>
          <p:nvPr userDrawn="1"/>
        </p:nvSpPr>
        <p:spPr>
          <a:xfrm>
            <a:off x="1923918" y="689958"/>
            <a:ext cx="8094662" cy="1938988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90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ea typeface="+mn-ea"/>
                <a:cs typeface="Gotham Medium"/>
              </a:rPr>
              <a:t>Thank you very much for your attention.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3615704" y="3033912"/>
            <a:ext cx="4734669" cy="257686"/>
          </a:xfrm>
        </p:spPr>
        <p:txBody>
          <a:bodyPr/>
          <a:lstStyle>
            <a:lvl1pPr marL="0" indent="0" algn="ctr" defTabSz="609585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9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900" dirty="0">
                <a:solidFill>
                  <a:srgbClr val="404040"/>
                </a:solidFill>
                <a:latin typeface="Gotham Medium" charset="0"/>
              </a:rPr>
              <a:t>[Full name of presenter]</a:t>
            </a:r>
          </a:p>
          <a:p>
            <a:pPr algn="ctr" eaLnBrk="1" hangingPunct="1"/>
            <a:endParaRPr lang="en-US" altLang="en-US" sz="19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3603008" y="3308271"/>
            <a:ext cx="4736483" cy="252697"/>
          </a:xfrm>
        </p:spPr>
        <p:txBody>
          <a:bodyPr/>
          <a:lstStyle>
            <a:lvl1pPr marL="0" indent="0" algn="ctr">
              <a:buNone/>
              <a:defRPr sz="1300" baseline="0">
                <a:latin typeface="Gotham Light"/>
              </a:defRPr>
            </a:lvl1pPr>
          </a:lstStyle>
          <a:p>
            <a:pPr lvl="0"/>
            <a:r>
              <a:rPr lang="en-US" dirty="0"/>
              <a:t>[Position of presenter]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622967" y="3659985"/>
            <a:ext cx="4734669" cy="257686"/>
          </a:xfrm>
        </p:spPr>
        <p:txBody>
          <a:bodyPr/>
          <a:lstStyle>
            <a:lvl1pPr marL="0" indent="0" algn="ctr" defTabSz="609585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9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900" dirty="0">
                <a:solidFill>
                  <a:srgbClr val="404040"/>
                </a:solidFill>
                <a:latin typeface="Gotham Medium" charset="0"/>
              </a:rPr>
              <a:t>[Phone number]</a:t>
            </a:r>
          </a:p>
          <a:p>
            <a:pPr algn="ctr" eaLnBrk="1" hangingPunct="1"/>
            <a:endParaRPr lang="en-US" altLang="en-US" sz="19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619342" y="3943078"/>
            <a:ext cx="4734669" cy="257686"/>
          </a:xfrm>
        </p:spPr>
        <p:txBody>
          <a:bodyPr/>
          <a:lstStyle>
            <a:lvl1pPr marL="0" indent="0" algn="ctr" defTabSz="609585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9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900" dirty="0">
                <a:solidFill>
                  <a:srgbClr val="404040"/>
                </a:solidFill>
                <a:latin typeface="Gotham Medium" charset="0"/>
              </a:rPr>
              <a:t>[Email]</a:t>
            </a:r>
          </a:p>
          <a:p>
            <a:pPr algn="ctr" eaLnBrk="1" hangingPunct="1"/>
            <a:endParaRPr lang="en-US" altLang="en-US" sz="19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5" name="TextBox 12"/>
          <p:cNvSpPr txBox="1">
            <a:spLocks noChangeArrowheads="1"/>
          </p:cNvSpPr>
          <p:nvPr userDrawn="1"/>
        </p:nvSpPr>
        <p:spPr bwMode="auto">
          <a:xfrm>
            <a:off x="3622967" y="4346952"/>
            <a:ext cx="4734669" cy="707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900">
                <a:solidFill>
                  <a:srgbClr val="404040"/>
                </a:solidFill>
                <a:latin typeface="Gotham Light" charset="0"/>
              </a:rPr>
              <a:t>For general questions: </a:t>
            </a:r>
          </a:p>
          <a:p>
            <a:pPr algn="ctr" eaLnBrk="1" hangingPunct="1"/>
            <a:r>
              <a:rPr lang="en-US" altLang="en-US" sz="1900">
                <a:solidFill>
                  <a:srgbClr val="404040"/>
                </a:solidFill>
                <a:latin typeface="Gotham Light" charset="0"/>
              </a:rPr>
              <a:t>info@knx.org – www.knx.org</a:t>
            </a:r>
          </a:p>
        </p:txBody>
      </p:sp>
      <p:pic>
        <p:nvPicPr>
          <p:cNvPr id="13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26500" y="5010150"/>
            <a:ext cx="2935288" cy="147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1375" y="5222875"/>
            <a:ext cx="14652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 userDrawn="1"/>
        </p:nvSpPr>
        <p:spPr>
          <a:xfrm>
            <a:off x="731838" y="5962650"/>
            <a:ext cx="4224337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rPr>
              <a:t>Smart home and building solutions.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rPr>
              <a:t>Global. Secure. Connected.</a:t>
            </a:r>
          </a:p>
        </p:txBody>
      </p:sp>
    </p:spTree>
    <p:extLst>
      <p:ext uri="{BB962C8B-B14F-4D97-AF65-F5344CB8AC3E}">
        <p14:creationId xmlns:p14="http://schemas.microsoft.com/office/powerpoint/2010/main" val="45290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9DB7F-6F71-483E-9725-F109AADF7C74}" type="datetimeFigureOut">
              <a:rPr lang="en-US" altLang="en-US"/>
              <a:pPr>
                <a:defRPr/>
              </a:pPr>
              <a:t>10/17/2025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F59234-8B31-4DBB-A812-7EDDF41E9C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1378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521" y="274702"/>
            <a:ext cx="10971372" cy="1143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17" tIns="60958" rIns="121917" bIns="6095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21" y="1600572"/>
            <a:ext cx="10971372" cy="4527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17" tIns="60958" rIns="121917" bIns="6095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n-US"/>
              <a:t>Click to edit Master text styles</a:t>
            </a:r>
          </a:p>
          <a:p>
            <a:pPr lvl="1"/>
            <a:r>
              <a:rPr lang="es-ES_tradnl" altLang="en-US"/>
              <a:t>Second level</a:t>
            </a:r>
          </a:p>
          <a:p>
            <a:pPr lvl="2"/>
            <a:r>
              <a:rPr lang="es-ES_tradnl" altLang="en-US"/>
              <a:t>Third level</a:t>
            </a:r>
          </a:p>
          <a:p>
            <a:pPr lvl="3"/>
            <a:r>
              <a:rPr lang="es-ES_tradnl" altLang="en-US"/>
              <a:t>Fourth level</a:t>
            </a:r>
          </a:p>
          <a:p>
            <a:pPr lvl="4"/>
            <a:r>
              <a:rPr lang="es-ES_tradnl" altLang="en-US"/>
              <a:t>Fifth level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wrap="square" lIns="121917" tIns="60958" rIns="121917" bIns="6095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AE10B03-8B23-4549-BCE4-742E89B81948}" type="datetimeFigureOut">
              <a:rPr lang="en-US" altLang="en-US"/>
              <a:pPr>
                <a:defRPr/>
              </a:pPr>
              <a:t>10/17/2025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wrap="square" lIns="121917" tIns="60958" rIns="121917" bIns="6095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Calibri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wrap="square" lIns="121917" tIns="60958" rIns="121917" bIns="6095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A8B56AB-B65C-4AC4-9924-7EEE409DF6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</p:sldLayoutIdLst>
  <p:txStyles>
    <p:titleStyle>
      <a:lvl1pPr algn="ctr" defTabSz="609585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MS PGothic" panose="020B0600070205080204" pitchFamily="34" charset="-128"/>
          <a:cs typeface="MS PGothic" charset="0"/>
        </a:defRPr>
      </a:lvl1pPr>
      <a:lvl2pPr algn="ctr" defTabSz="60958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2pPr>
      <a:lvl3pPr algn="ctr" defTabSz="60958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3pPr>
      <a:lvl4pPr algn="ctr" defTabSz="60958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4pPr>
      <a:lvl5pPr algn="ctr" defTabSz="60958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5pPr>
      <a:lvl6pPr marL="609585" algn="ctr" defTabSz="60958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1219170" algn="ctr" defTabSz="60958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828754" algn="ctr" defTabSz="60958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2438339" algn="ctr" defTabSz="60958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457189" indent="-457189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1pPr>
      <a:lvl2pPr marL="990575" indent="-380990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1523962" indent="-304792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2133547" indent="-304792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4pPr>
      <a:lvl5pPr marL="2743131" indent="-304792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61861" y="4661534"/>
            <a:ext cx="3442840" cy="173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9679" y="280604"/>
            <a:ext cx="1465072" cy="636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30156" y="1021871"/>
            <a:ext cx="4223787" cy="52221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rPr>
              <a:t>Smart home and building solutions.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rPr>
              <a:t>Global. Secure. Connected.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011" y="2310753"/>
            <a:ext cx="83904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December 1st –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OpenLine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: EMS</a:t>
            </a:r>
          </a:p>
        </p:txBody>
      </p:sp>
    </p:spTree>
    <p:extLst>
      <p:ext uri="{BB962C8B-B14F-4D97-AF65-F5344CB8AC3E}">
        <p14:creationId xmlns:p14="http://schemas.microsoft.com/office/powerpoint/2010/main" val="3953828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11366-A7D4-B1E9-2D6C-B64B62CE7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13F73801-6889-04A4-0CE1-7E5CB435437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3D39883E-CBC7-5638-1559-74133FC7C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5F452D74-1D32-79A5-CE7F-F6813CE17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BDB1ADA1-4484-FFF9-0B3F-DBD1829F8C8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82C1B276-77B3-8B74-3EBE-44B4E91D9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352D0D-A908-6570-16BD-F041ADFBF0F6}"/>
              </a:ext>
            </a:extLst>
          </p:cNvPr>
          <p:cNvSpPr txBox="1"/>
          <p:nvPr/>
        </p:nvSpPr>
        <p:spPr>
          <a:xfrm>
            <a:off x="476188" y="1662585"/>
            <a:ext cx="553375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EMS: Energy Management System</a:t>
            </a:r>
          </a:p>
          <a:p>
            <a:pPr algn="l"/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  <a:p>
            <a:pPr algn="l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This is about when to charge the EV.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Either ‘Sun Mode’: take into account present renewable energy; I only need the EV some time later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Or ‘Mix Mode’: don’t care about present renewable energy; I need the EV anytime soon</a:t>
            </a:r>
          </a:p>
        </p:txBody>
      </p:sp>
      <p:pic>
        <p:nvPicPr>
          <p:cNvPr id="3" name="Picture 2" descr="A diagram of a solar panel and mix mode&#10;&#10;AI-generated content may be incorrect.">
            <a:extLst>
              <a:ext uri="{FF2B5EF4-FFF2-40B4-BE49-F238E27FC236}">
                <a16:creationId xmlns:a16="http://schemas.microsoft.com/office/drawing/2014/main" id="{DE2C29E2-F85D-EC81-0FE9-E65661BF1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0896" y="1500878"/>
            <a:ext cx="4700010" cy="430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660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/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/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/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473" y="1296825"/>
            <a:ext cx="84200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EMS: details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7298" y="2004939"/>
            <a:ext cx="1082283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Demonstration applications for;</a:t>
            </a:r>
          </a:p>
          <a:p>
            <a:pPr marL="895335" lvl="1" indent="-285750">
              <a:buFontTx/>
              <a:buChar char="-"/>
            </a:pPr>
            <a:r>
              <a:rPr lang="en-US" dirty="0"/>
              <a:t>Photovoltaic Invertor: ‘PV’</a:t>
            </a:r>
          </a:p>
          <a:p>
            <a:pPr marL="895335" lvl="1" indent="-285750">
              <a:buFontTx/>
              <a:buChar char="-"/>
            </a:pPr>
            <a:r>
              <a:rPr lang="en-US" dirty="0"/>
              <a:t>Central Energy Manager: ‘CEM’</a:t>
            </a:r>
          </a:p>
          <a:p>
            <a:pPr marL="895335" lvl="1" indent="-285750">
              <a:buFontTx/>
              <a:buChar char="-"/>
            </a:pPr>
            <a:r>
              <a:rPr lang="en-US" dirty="0"/>
              <a:t>Electric Vehicle Charger: ‘EV Charger’</a:t>
            </a:r>
          </a:p>
          <a:p>
            <a:pPr marL="895335" lvl="1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Environment/platform:</a:t>
            </a:r>
          </a:p>
          <a:p>
            <a:pPr marL="895335" lvl="1" indent="-285750">
              <a:buFontTx/>
              <a:buChar char="-"/>
            </a:pPr>
            <a:r>
              <a:rPr lang="en-US" dirty="0"/>
              <a:t>For this very presentation: Windows</a:t>
            </a:r>
          </a:p>
          <a:p>
            <a:pPr marL="895335" lvl="1" indent="-285750">
              <a:buFontTx/>
              <a:buChar char="-"/>
            </a:pPr>
            <a:r>
              <a:rPr lang="en-US" dirty="0"/>
              <a:t>Also foreseen: Linux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Illustrate the capabilities of </a:t>
            </a:r>
            <a:r>
              <a:rPr lang="en-US" b="1" dirty="0"/>
              <a:t>KNX IoT technology </a:t>
            </a:r>
            <a:r>
              <a:rPr lang="en-US" dirty="0"/>
              <a:t>in managing:</a:t>
            </a:r>
          </a:p>
          <a:p>
            <a:pPr marL="895335" lvl="1" indent="-285750">
              <a:buFontTx/>
              <a:buChar char="-"/>
            </a:pPr>
            <a:r>
              <a:rPr lang="en-US" dirty="0"/>
              <a:t>renewable energy</a:t>
            </a:r>
          </a:p>
          <a:p>
            <a:pPr marL="895335" lvl="1" indent="-285750">
              <a:buFontTx/>
              <a:buChar char="-"/>
            </a:pPr>
            <a:r>
              <a:rPr lang="en-US" dirty="0"/>
              <a:t>charging infrastructure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469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90901-5374-48F5-7476-A35DE6A0F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827CC31B-AF24-90B3-715B-CEF8BABECDC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6538D055-F652-8D0C-ED6A-3A2B4FE7E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695648FC-491B-94BD-2342-D72B1D317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EEB048D9-2A5E-0667-3BB9-7F7643904AD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99B02CAD-52CA-393A-965A-19038502F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674AD0-A4ED-8D0D-8149-D13A7BBB7B0B}"/>
              </a:ext>
            </a:extLst>
          </p:cNvPr>
          <p:cNvSpPr txBox="1"/>
          <p:nvPr/>
        </p:nvSpPr>
        <p:spPr>
          <a:xfrm>
            <a:off x="690473" y="1296825"/>
            <a:ext cx="84200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Demonstration applications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26320D-F2E9-25CA-8969-176BD2AF0AB9}"/>
              </a:ext>
            </a:extLst>
          </p:cNvPr>
          <p:cNvSpPr txBox="1"/>
          <p:nvPr/>
        </p:nvSpPr>
        <p:spPr>
          <a:xfrm>
            <a:off x="687298" y="2004939"/>
            <a:ext cx="108228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Fixed and pre-loaded configuration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Concept: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097AE6-BD5C-5EA0-2EF0-E9B43F2FE605}"/>
              </a:ext>
            </a:extLst>
          </p:cNvPr>
          <p:cNvSpPr/>
          <p:nvPr/>
        </p:nvSpPr>
        <p:spPr>
          <a:xfrm>
            <a:off x="1747952" y="3390162"/>
            <a:ext cx="1335783" cy="66089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PV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B0823A-CA62-D23D-2192-7922960A2115}"/>
              </a:ext>
            </a:extLst>
          </p:cNvPr>
          <p:cNvSpPr/>
          <p:nvPr/>
        </p:nvSpPr>
        <p:spPr>
          <a:xfrm>
            <a:off x="3703927" y="3390162"/>
            <a:ext cx="1335783" cy="66089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F3A46A-F61F-224B-BCFB-A9EAB67535A0}"/>
              </a:ext>
            </a:extLst>
          </p:cNvPr>
          <p:cNvSpPr/>
          <p:nvPr/>
        </p:nvSpPr>
        <p:spPr>
          <a:xfrm>
            <a:off x="5659902" y="3390162"/>
            <a:ext cx="1335783" cy="66089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Charger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1AC3830-B813-A3B6-E0DA-C1A1237C8EEB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3083735" y="3720609"/>
            <a:ext cx="6201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E0810A1-AD7D-8D95-3381-31A0DB69439E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5039710" y="3720609"/>
            <a:ext cx="6201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510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FE4D3-B17B-4BD0-15C0-904848F0C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4344DDF7-1070-15A4-4230-68241BF707E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3375DA47-16FB-EE3A-17F9-EBD13B6C3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717B995C-42FA-3748-9398-5EA74CB21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3EDEFF8F-3FD1-6293-8AD8-916E0127BA1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2A0228F7-5BF9-A606-2461-76994ECAA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9FF7A-469D-E3EA-289C-34454CC900C7}"/>
              </a:ext>
            </a:extLst>
          </p:cNvPr>
          <p:cNvSpPr txBox="1"/>
          <p:nvPr/>
        </p:nvSpPr>
        <p:spPr>
          <a:xfrm>
            <a:off x="690473" y="1296825"/>
            <a:ext cx="84200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Demonstration applications: Architectural options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8A36EC-FEAD-584A-9CBC-FFBFA9FC9916}"/>
              </a:ext>
            </a:extLst>
          </p:cNvPr>
          <p:cNvSpPr txBox="1"/>
          <p:nvPr/>
        </p:nvSpPr>
        <p:spPr>
          <a:xfrm>
            <a:off x="687298" y="2004939"/>
            <a:ext cx="108228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Base: 3 apps</a:t>
            </a:r>
          </a:p>
          <a:p>
            <a:pPr marL="285750" indent="-285750">
              <a:buFontTx/>
              <a:buChar char="-"/>
            </a:pPr>
            <a:r>
              <a:rPr lang="en-US" dirty="0"/>
              <a:t>Several combinations possible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331368-94C5-7FEA-BF0C-0976B842BE83}"/>
              </a:ext>
            </a:extLst>
          </p:cNvPr>
          <p:cNvSpPr/>
          <p:nvPr/>
        </p:nvSpPr>
        <p:spPr>
          <a:xfrm>
            <a:off x="2164161" y="3429794"/>
            <a:ext cx="1335783" cy="66089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PV +</a:t>
            </a:r>
          </a:p>
          <a:p>
            <a:pPr algn="ctr"/>
            <a:r>
              <a:rPr lang="en-US" dirty="0"/>
              <a:t>CEM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F58D7F-80F1-D86D-5B6E-8291F2D60F7F}"/>
              </a:ext>
            </a:extLst>
          </p:cNvPr>
          <p:cNvSpPr/>
          <p:nvPr/>
        </p:nvSpPr>
        <p:spPr>
          <a:xfrm>
            <a:off x="4524784" y="3429793"/>
            <a:ext cx="1335783" cy="66089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Charger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53DD24-3CA8-5D96-3ED8-21845AF45099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 flipV="1">
            <a:off x="3499944" y="3760240"/>
            <a:ext cx="102484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967AD2E-C0A7-4F73-11DF-EAF1229CBBC2}"/>
              </a:ext>
            </a:extLst>
          </p:cNvPr>
          <p:cNvSpPr/>
          <p:nvPr/>
        </p:nvSpPr>
        <p:spPr>
          <a:xfrm>
            <a:off x="2164161" y="4421134"/>
            <a:ext cx="1335783" cy="66089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PV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038054-190F-D882-7FF1-ACBD6D9F7836}"/>
              </a:ext>
            </a:extLst>
          </p:cNvPr>
          <p:cNvSpPr/>
          <p:nvPr/>
        </p:nvSpPr>
        <p:spPr>
          <a:xfrm>
            <a:off x="4524784" y="4421133"/>
            <a:ext cx="1335783" cy="66089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CEM +</a:t>
            </a:r>
          </a:p>
          <a:p>
            <a:pPr algn="ctr"/>
            <a:r>
              <a:rPr lang="en-US" dirty="0"/>
              <a:t>Charger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2B378A8-B7C1-65C7-45E0-D2FF93A591E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499944" y="4751580"/>
            <a:ext cx="102484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583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A617-1958-A092-803F-1E15DFF54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7DCACE2E-79BF-37D6-30AD-44D250DAD06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0EE4A938-D406-CD6B-1224-8374AA1E7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42DE5B1D-92EE-4315-D38F-1F90A7579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6120C5BF-FC3C-E776-DA7D-0A75290BC6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B3C08594-5AB3-019A-368E-012FE981B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B18D3-854F-DE17-CE7A-29216EDA0F9A}"/>
              </a:ext>
            </a:extLst>
          </p:cNvPr>
          <p:cNvSpPr txBox="1"/>
          <p:nvPr/>
        </p:nvSpPr>
        <p:spPr>
          <a:xfrm>
            <a:off x="690473" y="1296825"/>
            <a:ext cx="84200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Photovoltaic app (PV)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BFC3FF-3726-9751-0A73-1FC63B92AFB0}"/>
              </a:ext>
            </a:extLst>
          </p:cNvPr>
          <p:cNvSpPr txBox="1"/>
          <p:nvPr/>
        </p:nvSpPr>
        <p:spPr>
          <a:xfrm>
            <a:off x="687298" y="2004939"/>
            <a:ext cx="108228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Simulates a solar inverter providing data regarding present renewable energy</a:t>
            </a:r>
          </a:p>
          <a:p>
            <a:pPr marL="285750" indent="-285750">
              <a:buFontTx/>
              <a:buChar char="-"/>
            </a:pPr>
            <a:r>
              <a:rPr lang="en-US" dirty="0"/>
              <a:t>Enables adjustment (by means of a slider) of the solar production value (0–10 kW) for testing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7ABB39-4FB7-BB38-EFC9-CE2B46B33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243" y="3196579"/>
            <a:ext cx="3194214" cy="135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296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55A5F-F8FD-66FE-4E8C-28F4B253E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98C3EBC2-C3F2-A507-55E0-BC2B55B1450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6C89F901-6D96-80B0-E762-E477BBAC4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78EF7164-A043-A964-5E08-0B199EEA3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3D7867E7-D612-4888-5375-28614498A8A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C3680392-1160-B15F-FDEF-5F08E3D0F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61114D-893F-8CC2-5800-584F36DAE58A}"/>
              </a:ext>
            </a:extLst>
          </p:cNvPr>
          <p:cNvSpPr txBox="1"/>
          <p:nvPr/>
        </p:nvSpPr>
        <p:spPr>
          <a:xfrm>
            <a:off x="690473" y="1296825"/>
            <a:ext cx="84200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Central Energy Manager app (CEM)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9354A5-7FC0-428B-C1C3-2B6E924F2DF1}"/>
              </a:ext>
            </a:extLst>
          </p:cNvPr>
          <p:cNvSpPr txBox="1"/>
          <p:nvPr/>
        </p:nvSpPr>
        <p:spPr>
          <a:xfrm>
            <a:off x="687298" y="2004939"/>
            <a:ext cx="108228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Acts as the brain of the system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Two operation modes:</a:t>
            </a:r>
          </a:p>
          <a:p>
            <a:pPr marL="895335" lvl="1" indent="-285750">
              <a:buFontTx/>
              <a:buChar char="-"/>
            </a:pPr>
            <a:r>
              <a:rPr lang="en-US" b="1" dirty="0"/>
              <a:t>Sun Mode</a:t>
            </a:r>
            <a:r>
              <a:rPr lang="en-US" dirty="0"/>
              <a:t>: EV charges only if present renewable energy ≥ 4 kW</a:t>
            </a:r>
          </a:p>
          <a:p>
            <a:pPr marL="895335" lvl="1" indent="-285750">
              <a:buFontTx/>
              <a:buChar char="-"/>
            </a:pPr>
            <a:r>
              <a:rPr lang="en-US" b="1" dirty="0"/>
              <a:t>Mix Mode</a:t>
            </a:r>
            <a:r>
              <a:rPr lang="en-US" dirty="0"/>
              <a:t>: EV charges at 4 kW regardless of present renewable energy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Calculates and sends out the appropriate charging rate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D4C2C0-5A23-2C75-2623-7B5EDA0AC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0944" y="4130879"/>
            <a:ext cx="3194214" cy="183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08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7055C-73D9-7764-5EE7-13D764B51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D02AFCD5-26C5-5A02-1712-7AB21A96A2C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16551032-E9B0-D753-E7E7-ED7DA6C2D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1EDF0E29-6582-6155-1814-BC26E1B0E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CC36310E-0BB0-09E7-9AB4-51754C35C48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1F27A5BC-F316-0B8F-CC35-D525E33FB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FC7136-7F3E-78EB-1B01-3CE4DB729D67}"/>
              </a:ext>
            </a:extLst>
          </p:cNvPr>
          <p:cNvSpPr txBox="1"/>
          <p:nvPr/>
        </p:nvSpPr>
        <p:spPr>
          <a:xfrm>
            <a:off x="690473" y="1296825"/>
            <a:ext cx="84200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EV Charger app (Charger)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DC70A8-42B9-29F8-29C9-1D2335C0E3A1}"/>
              </a:ext>
            </a:extLst>
          </p:cNvPr>
          <p:cNvSpPr txBox="1"/>
          <p:nvPr/>
        </p:nvSpPr>
        <p:spPr>
          <a:xfrm>
            <a:off x="687298" y="2004939"/>
            <a:ext cx="108228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Represents an EV charger</a:t>
            </a:r>
          </a:p>
          <a:p>
            <a:pPr marL="285750" indent="-285750">
              <a:buFontTx/>
              <a:buChar char="-"/>
            </a:pPr>
            <a:r>
              <a:rPr lang="en-US" dirty="0"/>
              <a:t>Receives and applies the charging request from the CEM app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80BEFA-7669-2F54-EFF9-B187D9EA8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139" y="3314648"/>
            <a:ext cx="3194214" cy="137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719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7AAAE-1E03-CE8A-8F97-9F279C521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8700C211-3C10-6092-60D5-627305C8902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6882B226-C084-1800-C088-9A86873A4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1AB28C3F-6103-56BA-DE59-1AD9CAD68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F0FC526B-4F76-1775-4175-742F225D858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AE8A2094-9517-8CD0-C061-FAABAEFA6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7D48F3-8D0C-0F32-4AA5-84E79B927D1D}"/>
              </a:ext>
            </a:extLst>
          </p:cNvPr>
          <p:cNvSpPr txBox="1"/>
          <p:nvPr/>
        </p:nvSpPr>
        <p:spPr>
          <a:xfrm>
            <a:off x="690473" y="1296825"/>
            <a:ext cx="84200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EMS apps: f</a:t>
            </a:r>
            <a:r>
              <a:rPr lang="en-US" sz="2800" dirty="0"/>
              <a:t>ixed and pre-loaded configuration</a:t>
            </a:r>
          </a:p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 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3E76B5-DA64-5888-1FD3-C578B50FA1CC}"/>
              </a:ext>
            </a:extLst>
          </p:cNvPr>
          <p:cNvSpPr txBox="1"/>
          <p:nvPr/>
        </p:nvSpPr>
        <p:spPr>
          <a:xfrm>
            <a:off x="1028566" y="2137132"/>
            <a:ext cx="853164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This means that no tool is required to make the system operational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Base: </a:t>
            </a:r>
            <a:r>
              <a:rPr lang="en-US" b="1" dirty="0"/>
              <a:t>serial number of the CEM device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Procedure, at start up:</a:t>
            </a:r>
          </a:p>
          <a:p>
            <a:pPr marL="895335" lvl="1" indent="-285750">
              <a:buFontTx/>
              <a:buChar char="-"/>
            </a:pPr>
            <a:r>
              <a:rPr lang="en-US" dirty="0"/>
              <a:t>The CEM device derives its settings from its own serial number</a:t>
            </a:r>
          </a:p>
          <a:p>
            <a:pPr marL="895335" lvl="1" indent="-285750">
              <a:buFontTx/>
              <a:buChar char="-"/>
            </a:pPr>
            <a:r>
              <a:rPr lang="en-US" dirty="0"/>
              <a:t>The PV device also derives its settings from this serial number</a:t>
            </a:r>
          </a:p>
          <a:p>
            <a:pPr marL="895335" lvl="1" indent="-285750">
              <a:buFontTx/>
              <a:buChar char="-"/>
            </a:pPr>
            <a:r>
              <a:rPr lang="en-US" dirty="0"/>
              <a:t>The Charger device also derives its settings from this serial number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Settings:</a:t>
            </a:r>
          </a:p>
          <a:p>
            <a:pPr marL="895335" lvl="1" indent="-285750">
              <a:buFontTx/>
              <a:buChar char="-"/>
            </a:pPr>
            <a:r>
              <a:rPr lang="en-US" dirty="0"/>
              <a:t>Datapoints</a:t>
            </a:r>
          </a:p>
          <a:p>
            <a:pPr marL="895335" lvl="1" indent="-285750">
              <a:buFontTx/>
              <a:buChar char="-"/>
            </a:pPr>
            <a:r>
              <a:rPr lang="en-US" dirty="0"/>
              <a:t>IPv6 multicast address</a:t>
            </a:r>
          </a:p>
          <a:p>
            <a:pPr marL="895335" lvl="1" indent="-285750">
              <a:buFontTx/>
              <a:buChar char="-"/>
            </a:pPr>
            <a:r>
              <a:rPr lang="en-US" dirty="0"/>
              <a:t>OSCORE: data protection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232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7A602-CD02-D30C-9545-5EE229279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124E7DE2-3C1F-452E-57D8-FBB85C4C0B4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8D50916B-7595-8869-9984-353591866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8886B22A-BAFE-0FDC-DF04-6D124AAFC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137C7BEA-BA01-6456-1AF0-A4214B5E5BC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2CE659EA-88EF-F37B-B000-4D3E6F290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6D06C0-D8E7-2446-D3E9-44D493A7B071}"/>
              </a:ext>
            </a:extLst>
          </p:cNvPr>
          <p:cNvSpPr txBox="1"/>
          <p:nvPr/>
        </p:nvSpPr>
        <p:spPr>
          <a:xfrm>
            <a:off x="690473" y="1296825"/>
            <a:ext cx="84200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PV app: f</a:t>
            </a:r>
            <a:r>
              <a:rPr lang="en-US" sz="2800" dirty="0"/>
              <a:t>ixed and pre-loaded configuration</a:t>
            </a:r>
          </a:p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 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88239F-31D7-8928-017D-AEE12FAFEE26}"/>
              </a:ext>
            </a:extLst>
          </p:cNvPr>
          <p:cNvSpPr txBox="1"/>
          <p:nvPr/>
        </p:nvSpPr>
        <p:spPr>
          <a:xfrm>
            <a:off x="6671967" y="2589200"/>
            <a:ext cx="48413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Technical details: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1 datapoint</a:t>
            </a:r>
          </a:p>
          <a:p>
            <a:pPr marL="895335" lvl="1" indent="-285750">
              <a:buFontTx/>
              <a:buChar char="-"/>
            </a:pPr>
            <a:r>
              <a:rPr lang="en-US" dirty="0" err="1"/>
              <a:t>cflags</a:t>
            </a:r>
            <a:r>
              <a:rPr lang="en-US" dirty="0"/>
              <a:t> = t : transmit to medium</a:t>
            </a:r>
          </a:p>
          <a:p>
            <a:pPr marL="895335" lvl="1" indent="-285750">
              <a:buFontTx/>
              <a:buChar char="-"/>
            </a:pPr>
            <a:r>
              <a:rPr lang="en-US" dirty="0" err="1"/>
              <a:t>url</a:t>
            </a:r>
            <a:r>
              <a:rPr lang="en-US" dirty="0"/>
              <a:t> : PV = present renewable energy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IPv6 multicast: groups the devices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OSCORE: protection of the exchanged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E7F142-E277-A56F-AF5E-F780D9CF2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996" y="2099251"/>
            <a:ext cx="5061210" cy="366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44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27525-6B2D-7DA0-D0AA-55C483D5B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4C78AB2E-47FA-0E86-F1D4-08522F648F4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1678835F-D696-261C-116A-59F36B311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68CFDAD8-1DFC-7D89-74E1-8A18E8A73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0916DBD1-BC85-C323-4089-1B0EEFC63F7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EBE6DF9F-F195-3702-F18F-15512E2F1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5B7A50-4EE7-64C0-7648-2B87484E8523}"/>
              </a:ext>
            </a:extLst>
          </p:cNvPr>
          <p:cNvSpPr txBox="1"/>
          <p:nvPr/>
        </p:nvSpPr>
        <p:spPr>
          <a:xfrm>
            <a:off x="690473" y="1296825"/>
            <a:ext cx="84200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CEM app: f</a:t>
            </a:r>
            <a:r>
              <a:rPr lang="en-US" sz="2800" dirty="0"/>
              <a:t>ixed and pre-loaded configuration</a:t>
            </a:r>
          </a:p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 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7E8DC2-39DA-F1E9-D547-8E5B306BAD9A}"/>
              </a:ext>
            </a:extLst>
          </p:cNvPr>
          <p:cNvSpPr txBox="1"/>
          <p:nvPr/>
        </p:nvSpPr>
        <p:spPr>
          <a:xfrm>
            <a:off x="6608905" y="2485599"/>
            <a:ext cx="48413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Technical details: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2 datapoints</a:t>
            </a:r>
          </a:p>
          <a:p>
            <a:pPr marL="895335" lvl="1" indent="-285750">
              <a:buFontTx/>
              <a:buChar char="-"/>
            </a:pPr>
            <a:r>
              <a:rPr lang="en-US" dirty="0" err="1"/>
              <a:t>cflags</a:t>
            </a:r>
            <a:r>
              <a:rPr lang="en-US" dirty="0"/>
              <a:t> = w : write from medium</a:t>
            </a:r>
          </a:p>
          <a:p>
            <a:pPr marL="895335" lvl="1" indent="-285750">
              <a:buFontTx/>
              <a:buChar char="-"/>
            </a:pPr>
            <a:r>
              <a:rPr lang="en-US" dirty="0" err="1"/>
              <a:t>cflags</a:t>
            </a:r>
            <a:r>
              <a:rPr lang="en-US" dirty="0"/>
              <a:t> = t : transmit to medium</a:t>
            </a:r>
          </a:p>
          <a:p>
            <a:pPr marL="895335" lvl="1" indent="-285750">
              <a:buFontTx/>
              <a:buChar char="-"/>
            </a:pPr>
            <a:r>
              <a:rPr lang="en-US" dirty="0" err="1"/>
              <a:t>url</a:t>
            </a:r>
            <a:r>
              <a:rPr lang="en-US" dirty="0"/>
              <a:t> : PV = present renewable energy</a:t>
            </a:r>
          </a:p>
          <a:p>
            <a:pPr marL="895335" lvl="1" indent="-285750">
              <a:buFontTx/>
              <a:buChar char="-"/>
            </a:pPr>
            <a:r>
              <a:rPr lang="en-US" dirty="0" err="1"/>
              <a:t>url</a:t>
            </a:r>
            <a:r>
              <a:rPr lang="en-US" dirty="0"/>
              <a:t> : Charger = requested charge rate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IPv6 multicast: groups the devices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OSCORE: protection of the exchanged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929346-2148-DEBE-0A3B-9FBEEB78F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568" y="2004939"/>
            <a:ext cx="5061210" cy="38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260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8D97F-C278-B990-29E2-6C60CC319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794714D3-D210-458D-20AE-369513C2831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AC61C499-CAB5-DD08-920A-892EB7639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211C0584-1437-B86A-AB83-659A01DAC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D312D97F-C887-C6A9-E33A-FF751F78F92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E0B556B3-19C0-51A4-E6AE-3DA521708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23866F-96FE-AA95-29EB-1DC93C962D01}"/>
              </a:ext>
            </a:extLst>
          </p:cNvPr>
          <p:cNvSpPr txBox="1"/>
          <p:nvPr/>
        </p:nvSpPr>
        <p:spPr>
          <a:xfrm>
            <a:off x="690473" y="1296825"/>
            <a:ext cx="84200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Charger app: f</a:t>
            </a:r>
            <a:r>
              <a:rPr lang="en-US" sz="2800" dirty="0"/>
              <a:t>ixed and pre-loaded configuration</a:t>
            </a:r>
          </a:p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 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64451E-2F27-0B30-B7A2-D32B54263A43}"/>
              </a:ext>
            </a:extLst>
          </p:cNvPr>
          <p:cNvSpPr txBox="1"/>
          <p:nvPr/>
        </p:nvSpPr>
        <p:spPr>
          <a:xfrm>
            <a:off x="6660191" y="2673397"/>
            <a:ext cx="48413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Technical details: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1 datapoint</a:t>
            </a:r>
          </a:p>
          <a:p>
            <a:pPr marL="895335" lvl="1" indent="-285750">
              <a:buFontTx/>
              <a:buChar char="-"/>
            </a:pPr>
            <a:r>
              <a:rPr lang="en-US" dirty="0" err="1"/>
              <a:t>cflags</a:t>
            </a:r>
            <a:r>
              <a:rPr lang="en-US" dirty="0"/>
              <a:t> = w : write from medium</a:t>
            </a:r>
          </a:p>
          <a:p>
            <a:pPr marL="895335" lvl="1" indent="-285750">
              <a:buFontTx/>
              <a:buChar char="-"/>
            </a:pPr>
            <a:r>
              <a:rPr lang="en-US" dirty="0" err="1"/>
              <a:t>url</a:t>
            </a:r>
            <a:r>
              <a:rPr lang="en-US" dirty="0"/>
              <a:t> : Charger = requested charge rate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IPv6 multicast: groups the devices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OSCORE: protection of the exchanged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35DF6F-259F-9CDF-40A2-BA5DD469C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996" y="2085170"/>
            <a:ext cx="5061210" cy="38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356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D8CBB-780E-A7A8-4668-31A41C072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52901F15-DD9C-56AC-B0FF-0C3B7DAEA56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BFC67DDB-A6C2-88D4-DD09-B7E5B1A94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90C760D-1664-9277-F6F6-BC7C2ECED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8940D01C-10C1-0226-22AA-15D57877AB5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4BE875CD-E4E5-C25A-9982-1751CFB2E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CBB545-A549-1770-EA23-C83EB11EA197}"/>
              </a:ext>
            </a:extLst>
          </p:cNvPr>
          <p:cNvSpPr txBox="1"/>
          <p:nvPr/>
        </p:nvSpPr>
        <p:spPr>
          <a:xfrm>
            <a:off x="3081454" y="2804009"/>
            <a:ext cx="40697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EMS apps: demo</a:t>
            </a:r>
            <a:endParaRPr lang="en-US" sz="2800" dirty="0"/>
          </a:p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 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40546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4C82F-6C9D-0703-318C-55C5EAD27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602BDB04-A069-E869-C657-1B9E4DCEE4A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0B3BAD59-2CAB-004C-E946-5A8300B28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FB1CAAC1-0280-6F96-1781-8A89BC777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00C68B8A-0F9B-8623-B8ED-7458D269B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6FEFDC1E-62AC-E0FC-5EF0-29407ADC2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B0DDAA-8753-2099-FEB3-B2993A7B960C}"/>
              </a:ext>
            </a:extLst>
          </p:cNvPr>
          <p:cNvSpPr txBox="1"/>
          <p:nvPr/>
        </p:nvSpPr>
        <p:spPr>
          <a:xfrm>
            <a:off x="690473" y="1296825"/>
            <a:ext cx="84200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Open Source: get it from our GitLab repo</a:t>
            </a:r>
            <a:endParaRPr lang="en-US" sz="2800" dirty="0"/>
          </a:p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 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C99879-ABBF-71E4-99AA-22C9D693B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1130" y="1999643"/>
            <a:ext cx="7787508" cy="385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467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7E4B0A-6892-4A0A-AE2C-6F4ADAF28F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Christophe Parthoens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B4A55-526C-44FE-8377-35450416D44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7ED7E-8E2E-4DA7-9D2D-B4D23BB001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146246-AF79-4FCB-9D97-0C2243F585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christophe.parthoens</a:t>
            </a:r>
            <a:r>
              <a:rPr lang="en-GB" dirty="0" err="1"/>
              <a:t>@</a:t>
            </a:r>
            <a:r>
              <a:rPr lang="en-GB" err="1"/>
              <a:t>knx</a:t>
            </a:r>
            <a:r>
              <a:rPr lang="en-GB"/>
              <a:t>.org</a:t>
            </a:r>
          </a:p>
        </p:txBody>
      </p:sp>
    </p:spTree>
    <p:extLst>
      <p:ext uri="{BB962C8B-B14F-4D97-AF65-F5344CB8AC3E}">
        <p14:creationId xmlns:p14="http://schemas.microsoft.com/office/powerpoint/2010/main" val="149517314"/>
      </p:ext>
    </p:extLst>
  </p:cSld>
  <p:clrMapOvr>
    <a:masterClrMapping/>
  </p:clrMapOvr>
</p:sld>
</file>

<file path=ppt/theme/theme1.xml><?xml version="1.0" encoding="utf-8"?>
<a:theme xmlns:a="http://schemas.openxmlformats.org/drawingml/2006/main" name="MAIN P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746</Words>
  <Application>Microsoft Office PowerPoint</Application>
  <PresentationFormat>Custom</PresentationFormat>
  <Paragraphs>162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Gotham Light</vt:lpstr>
      <vt:lpstr>Gotham Medium</vt:lpstr>
      <vt:lpstr>Wingdings</vt:lpstr>
      <vt:lpstr>MAIN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Francesco Cusumano</dc:creator>
  <cp:lastModifiedBy>Christophe Parthoens</cp:lastModifiedBy>
  <cp:revision>266</cp:revision>
  <dcterms:created xsi:type="dcterms:W3CDTF">2018-01-30T08:55:51Z</dcterms:created>
  <dcterms:modified xsi:type="dcterms:W3CDTF">2025-10-17T13:37:38Z</dcterms:modified>
</cp:coreProperties>
</file>