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31" r:id="rId3"/>
    <p:sldId id="257" r:id="rId4"/>
    <p:sldId id="327" r:id="rId5"/>
    <p:sldId id="328" r:id="rId6"/>
    <p:sldId id="330" r:id="rId7"/>
    <p:sldId id="337" r:id="rId8"/>
    <p:sldId id="332" r:id="rId9"/>
    <p:sldId id="335" r:id="rId10"/>
    <p:sldId id="329" r:id="rId11"/>
    <p:sldId id="334" r:id="rId12"/>
    <p:sldId id="341" r:id="rId13"/>
    <p:sldId id="342" r:id="rId14"/>
    <p:sldId id="343" r:id="rId15"/>
    <p:sldId id="344" r:id="rId16"/>
    <p:sldId id="345" r:id="rId17"/>
    <p:sldId id="338" r:id="rId18"/>
    <p:sldId id="336" r:id="rId19"/>
    <p:sldId id="340" r:id="rId20"/>
    <p:sldId id="326" r:id="rId21"/>
  </p:sldIdLst>
  <p:sldSz cx="12190413" cy="6859588"/>
  <p:notesSz cx="6858000" cy="9144000"/>
  <p:defaultTextStyle>
    <a:defPPr>
      <a:defRPr lang="en-US"/>
    </a:defPPr>
    <a:lvl1pPr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609585"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1219170"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828754"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2438339" algn="l" defTabSz="609585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6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A0A3"/>
    <a:srgbClr val="319C32"/>
    <a:srgbClr val="005FAA"/>
    <a:srgbClr val="FF4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80" y="168"/>
      </p:cViewPr>
      <p:guideLst>
        <p:guide orient="horz" pos="2160"/>
        <p:guide pos="2880"/>
        <p:guide orient="horz" pos="2161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3680DA0-E069-47B2-820F-B17760B79652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2E2B0CE-7D60-4185-A293-7FD1A0805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79E6F39-A840-433A-BE22-D3D3BE5AC0DE}" type="datetimeFigureOut">
              <a:rPr lang="en-GB" altLang="en-US"/>
              <a:pPr>
                <a:defRPr/>
              </a:pPr>
              <a:t>29/10/2025</a:t>
            </a:fld>
            <a:endParaRPr lang="en-GB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8468829-D356-462D-8529-DA09F0ACC71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6095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121917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828754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2438339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6824" y="2123206"/>
            <a:ext cx="9186347" cy="996273"/>
          </a:xfrm>
        </p:spPr>
        <p:txBody>
          <a:bodyPr/>
          <a:lstStyle>
            <a:lvl1pPr algn="l">
              <a:defRPr sz="37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6822" y="3393840"/>
            <a:ext cx="5790446" cy="481805"/>
          </a:xfrm>
        </p:spPr>
        <p:txBody>
          <a:bodyPr/>
          <a:lstStyle>
            <a:lvl1pPr marL="0" indent="0" algn="l">
              <a:buNone/>
              <a:defRPr sz="2700">
                <a:solidFill>
                  <a:schemeClr val="tx1"/>
                </a:solidFill>
                <a:latin typeface="Gotham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pic>
        <p:nvPicPr>
          <p:cNvPr id="10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62950" y="4660900"/>
            <a:ext cx="3443288" cy="173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775" y="279400"/>
            <a:ext cx="14652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>
          <a:xfrm>
            <a:off x="630238" y="1020763"/>
            <a:ext cx="4224337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Smart home and building solutions.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Global. Secure. Connected.</a:t>
            </a:r>
          </a:p>
        </p:txBody>
      </p:sp>
    </p:spTree>
    <p:extLst>
      <p:ext uri="{BB962C8B-B14F-4D97-AF65-F5344CB8AC3E}">
        <p14:creationId xmlns:p14="http://schemas.microsoft.com/office/powerpoint/2010/main" val="123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0631" y="3148743"/>
            <a:ext cx="9185138" cy="668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err="1"/>
              <a:t>Title</a:t>
            </a:r>
            <a:r>
              <a:rPr lang="es-ES_tradnl"/>
              <a:t> 2 </a:t>
            </a:r>
            <a:r>
              <a:rPr lang="en-US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 userDrawn="1"/>
        </p:nvSpPr>
        <p:spPr bwMode="auto">
          <a:xfrm>
            <a:off x="1248671" y="3868046"/>
            <a:ext cx="5790446" cy="48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920026" y="1449491"/>
            <a:ext cx="9186347" cy="719643"/>
          </a:xfrm>
        </p:spPr>
        <p:txBody>
          <a:bodyPr/>
          <a:lstStyle>
            <a:lvl1pPr marL="457189" indent="-457189" algn="l">
              <a:buFont typeface="Wingdings" panose="05000000000000000000" pitchFamily="2" charset="2"/>
              <a:buChar char="§"/>
              <a:defRPr sz="33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48671" y="2169134"/>
            <a:ext cx="5790446" cy="481805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tx1"/>
                </a:solidFill>
                <a:latin typeface="Gotham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pic>
        <p:nvPicPr>
          <p:cNvPr id="28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30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31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342692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 userDrawn="1"/>
        </p:nvCxnSpPr>
        <p:spPr>
          <a:xfrm>
            <a:off x="0" y="1473541"/>
            <a:ext cx="12190413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2908" y="1001035"/>
            <a:ext cx="11149754" cy="444603"/>
          </a:xfrm>
        </p:spPr>
        <p:txBody>
          <a:bodyPr/>
          <a:lstStyle>
            <a:lvl1pPr marL="0" indent="0" algn="ctr">
              <a:buNone/>
              <a:defRPr sz="2700">
                <a:latin typeface="Gotham Medium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1045802" y="2376814"/>
            <a:ext cx="4890677" cy="644900"/>
          </a:xfrm>
        </p:spPr>
        <p:txBody>
          <a:bodyPr/>
          <a:lstStyle>
            <a:lvl1pPr algn="l" defTabSz="609585" rtl="0" eaLnBrk="1" fontAlgn="base" hangingPunct="1">
              <a:spcBef>
                <a:spcPct val="0"/>
              </a:spcBef>
              <a:spcAft>
                <a:spcPct val="0"/>
              </a:spcAft>
              <a:defRPr lang="en-US" sz="37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546056" y="3299589"/>
            <a:ext cx="4390420" cy="1330633"/>
          </a:xfrm>
        </p:spPr>
        <p:txBody>
          <a:bodyPr/>
          <a:lstStyle>
            <a:lvl1pPr marL="0" indent="0">
              <a:buNone/>
              <a:defRPr lang="en-US" sz="2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5936478" y="1927672"/>
            <a:ext cx="6253935" cy="3136039"/>
          </a:xfrm>
        </p:spPr>
        <p:txBody>
          <a:bodyPr/>
          <a:lstStyle/>
          <a:p>
            <a:pPr lvl="0"/>
            <a:endParaRPr lang="en-US" noProof="0"/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15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7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6332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 userDrawn="1"/>
        </p:nvCxnSpPr>
        <p:spPr>
          <a:xfrm>
            <a:off x="0" y="1473541"/>
            <a:ext cx="12190413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452908" y="1001035"/>
            <a:ext cx="11149754" cy="444603"/>
          </a:xfrm>
        </p:spPr>
        <p:txBody>
          <a:bodyPr/>
          <a:lstStyle>
            <a:lvl1pPr marL="0" indent="0" algn="ctr">
              <a:buNone/>
              <a:defRPr sz="2700">
                <a:latin typeface="Gotham Medium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643383" y="1915761"/>
            <a:ext cx="2415104" cy="574504"/>
          </a:xfrm>
        </p:spPr>
        <p:txBody>
          <a:bodyPr/>
          <a:lstStyle>
            <a:lvl1pPr algn="l" defTabSz="609585" rtl="0" eaLnBrk="1" fontAlgn="base" hangingPunct="1">
              <a:spcBef>
                <a:spcPct val="0"/>
              </a:spcBef>
              <a:spcAft>
                <a:spcPct val="0"/>
              </a:spcAft>
              <a:defRPr lang="en-US" sz="19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418155" y="1761851"/>
            <a:ext cx="4390420" cy="932988"/>
          </a:xfr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8518475" y="1501446"/>
            <a:ext cx="3671938" cy="140276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661530" y="3587108"/>
            <a:ext cx="2415104" cy="574504"/>
          </a:xfrm>
        </p:spPr>
        <p:txBody>
          <a:bodyPr/>
          <a:lstStyle>
            <a:lvl1pPr algn="l" defTabSz="609585" rtl="0" eaLnBrk="1" fontAlgn="base" hangingPunct="1">
              <a:spcBef>
                <a:spcPct val="0"/>
              </a:spcBef>
              <a:spcAft>
                <a:spcPct val="0"/>
              </a:spcAft>
              <a:defRPr lang="en-US" sz="19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3436302" y="3433199"/>
            <a:ext cx="4390420" cy="932988"/>
          </a:xfr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8536622" y="3172794"/>
            <a:ext cx="3671938" cy="140276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668784" y="5282951"/>
            <a:ext cx="2415104" cy="574504"/>
          </a:xfrm>
        </p:spPr>
        <p:txBody>
          <a:bodyPr/>
          <a:lstStyle>
            <a:lvl1pPr algn="l" defTabSz="609585" rtl="0" eaLnBrk="1" fontAlgn="base" hangingPunct="1">
              <a:spcBef>
                <a:spcPct val="0"/>
              </a:spcBef>
              <a:spcAft>
                <a:spcPct val="0"/>
              </a:spcAft>
              <a:defRPr lang="en-US" sz="19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3443556" y="5129043"/>
            <a:ext cx="4390420" cy="932988"/>
          </a:xfr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8543876" y="4868638"/>
            <a:ext cx="3671938" cy="1402765"/>
          </a:xfrm>
        </p:spPr>
        <p:txBody>
          <a:bodyPr/>
          <a:lstStyle/>
          <a:p>
            <a:pPr lvl="0"/>
            <a:endParaRPr lang="en-US" noProof="0"/>
          </a:p>
        </p:txBody>
      </p:sp>
      <p:pic>
        <p:nvPicPr>
          <p:cNvPr id="28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30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31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39254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52909" y="1477395"/>
            <a:ext cx="11737504" cy="483687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2908" y="1001035"/>
            <a:ext cx="11149754" cy="444603"/>
          </a:xfrm>
        </p:spPr>
        <p:txBody>
          <a:bodyPr/>
          <a:lstStyle>
            <a:lvl1pPr marL="0" indent="0" algn="ctr">
              <a:buNone/>
              <a:defRPr sz="2700">
                <a:latin typeface="Gotham Medium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078031" y="2021016"/>
            <a:ext cx="4390420" cy="1330633"/>
          </a:xfrm>
        </p:spPr>
        <p:txBody>
          <a:bodyPr/>
          <a:lstStyle>
            <a:lvl1pPr marL="0" indent="0">
              <a:buNone/>
              <a:defRPr lang="en-US" sz="2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pic>
        <p:nvPicPr>
          <p:cNvPr id="10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12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3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84994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2645489" y="1466732"/>
            <a:ext cx="7348110" cy="444603"/>
          </a:xfrm>
        </p:spPr>
        <p:txBody>
          <a:bodyPr/>
          <a:lstStyle>
            <a:lvl1pPr marL="0" indent="0" algn="ctr">
              <a:buNone/>
              <a:defRPr sz="2700" baseline="0">
                <a:latin typeface="Gotham Medium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4021145" y="4999404"/>
            <a:ext cx="5049829" cy="658635"/>
          </a:xfrm>
        </p:spPr>
        <p:txBody>
          <a:bodyPr/>
          <a:lstStyle>
            <a:lvl1pPr marL="0" indent="0" algn="ctr">
              <a:buNone/>
              <a:defRPr lang="en-US" sz="19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2645489" y="2021356"/>
            <a:ext cx="7348110" cy="286451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</a:p>
        </p:txBody>
      </p:sp>
      <p:pic>
        <p:nvPicPr>
          <p:cNvPr id="10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250" y="439738"/>
            <a:ext cx="110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ángulo 17"/>
          <p:cNvSpPr>
            <a:spLocks noChangeArrowheads="1"/>
          </p:cNvSpPr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 lang="es-ES" altLang="en-US">
              <a:solidFill>
                <a:srgbClr val="FFFFFF"/>
              </a:solidFill>
            </a:endParaRPr>
          </a:p>
        </p:txBody>
      </p:sp>
      <p:sp>
        <p:nvSpPr>
          <p:cNvPr id="12" name="TextBox 7"/>
          <p:cNvSpPr txBox="1">
            <a:spLocks noChangeArrowheads="1"/>
          </p:cNvSpPr>
          <p:nvPr userDrawn="1"/>
        </p:nvSpPr>
        <p:spPr bwMode="auto">
          <a:xfrm>
            <a:off x="203200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3" name="Imagen 21" descr="Worldmap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8350" y="6340475"/>
            <a:ext cx="11493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1"/>
          <p:cNvSpPr txBox="1">
            <a:spLocks noChangeArrowheads="1"/>
          </p:cNvSpPr>
          <p:nvPr userDrawn="1"/>
        </p:nvSpPr>
        <p:spPr bwMode="auto">
          <a:xfrm>
            <a:off x="11168063" y="6340475"/>
            <a:ext cx="862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/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50523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/>
          <p:cNvSpPr txBox="1"/>
          <p:nvPr userDrawn="1"/>
        </p:nvSpPr>
        <p:spPr>
          <a:xfrm>
            <a:off x="1923918" y="689958"/>
            <a:ext cx="8094662" cy="1938988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90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 you very much for your attention.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615704" y="3033912"/>
            <a:ext cx="4734669" cy="257686"/>
          </a:xfrm>
        </p:spPr>
        <p:txBody>
          <a:bodyPr/>
          <a:lstStyle>
            <a:lvl1pPr marL="0" indent="0" algn="ctr" defTabSz="609585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9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9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9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3603008" y="3308271"/>
            <a:ext cx="4736483" cy="252697"/>
          </a:xfrm>
        </p:spPr>
        <p:txBody>
          <a:bodyPr/>
          <a:lstStyle>
            <a:lvl1pPr marL="0" indent="0" algn="ctr">
              <a:buNone/>
              <a:defRPr sz="13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622967" y="3659985"/>
            <a:ext cx="4734669" cy="257686"/>
          </a:xfrm>
        </p:spPr>
        <p:txBody>
          <a:bodyPr/>
          <a:lstStyle>
            <a:lvl1pPr marL="0" indent="0" algn="ctr" defTabSz="609585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9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9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9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619342" y="3943078"/>
            <a:ext cx="4734669" cy="257686"/>
          </a:xfrm>
        </p:spPr>
        <p:txBody>
          <a:bodyPr/>
          <a:lstStyle>
            <a:lvl1pPr marL="0" indent="0" algn="ctr" defTabSz="609585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9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9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9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 userDrawn="1"/>
        </p:nvSpPr>
        <p:spPr bwMode="auto">
          <a:xfrm>
            <a:off x="3622967" y="4346952"/>
            <a:ext cx="4734669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90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90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  <p:pic>
        <p:nvPicPr>
          <p:cNvPr id="13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6500" y="5010150"/>
            <a:ext cx="2935288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1375" y="5222875"/>
            <a:ext cx="1465263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 userDrawn="1"/>
        </p:nvSpPr>
        <p:spPr>
          <a:xfrm>
            <a:off x="731838" y="5962650"/>
            <a:ext cx="42243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Smart home and building solutions.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Global. Secure. Connected.</a:t>
            </a:r>
          </a:p>
        </p:txBody>
      </p:sp>
    </p:spTree>
    <p:extLst>
      <p:ext uri="{BB962C8B-B14F-4D97-AF65-F5344CB8AC3E}">
        <p14:creationId xmlns:p14="http://schemas.microsoft.com/office/powerpoint/2010/main" val="4529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9DB7F-6F71-483E-9725-F109AADF7C74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59234-8B31-4DBB-A812-7EDDF41E9C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37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521" y="274702"/>
            <a:ext cx="10971372" cy="1143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17" tIns="60958" rIns="121917" bIns="60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21" y="1600572"/>
            <a:ext cx="10971372" cy="4527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17" tIns="60958" rIns="121917" bIns="609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n-US"/>
              <a:t>Click to edit Master text styles</a:t>
            </a:r>
          </a:p>
          <a:p>
            <a:pPr lvl="1"/>
            <a:r>
              <a:rPr lang="es-ES_tradnl" altLang="en-US"/>
              <a:t>Second level</a:t>
            </a:r>
          </a:p>
          <a:p>
            <a:pPr lvl="2"/>
            <a:r>
              <a:rPr lang="es-ES_tradnl" altLang="en-US"/>
              <a:t>Third level</a:t>
            </a:r>
          </a:p>
          <a:p>
            <a:pPr lvl="3"/>
            <a:r>
              <a:rPr lang="es-ES_tradnl" altLang="en-US"/>
              <a:t>Fourth level</a:t>
            </a:r>
          </a:p>
          <a:p>
            <a:pPr lvl="4"/>
            <a:r>
              <a:rPr lang="es-ES_tradnl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wrap="square" lIns="121917" tIns="60958" rIns="121917" bIns="6095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AE10B03-8B23-4549-BCE4-742E89B81948}" type="datetimeFigureOut">
              <a:rPr lang="en-US" altLang="en-US"/>
              <a:pPr>
                <a:defRPr/>
              </a:pPr>
              <a:t>10/29/2025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wrap="square" lIns="121917" tIns="60958" rIns="121917" bIns="6095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Calibri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wrap="square" lIns="121917" tIns="60958" rIns="121917" bIns="6095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A8B56AB-B65C-4AC4-9924-7EEE409DF6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txStyles>
    <p:titleStyle>
      <a:lvl1pPr algn="ctr" defTabSz="609585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60958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60958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60958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60958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609585" algn="ctr" defTabSz="60958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1219170" algn="ctr" defTabSz="60958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828754" algn="ctr" defTabSz="60958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2438339" algn="ctr" defTabSz="60958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457189" indent="-457189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990575" indent="-380990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523962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2133547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743131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61861" y="4661534"/>
            <a:ext cx="3442840" cy="173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679" y="280604"/>
            <a:ext cx="1465072" cy="636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30156" y="1021871"/>
            <a:ext cx="4223787" cy="52221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Smart home and building solutions.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rPr>
              <a:t>Global. Secure. Connected.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011" y="2310753"/>
            <a:ext cx="83904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December 1st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OpenLine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: EMS</a:t>
            </a:r>
          </a:p>
        </p:txBody>
      </p:sp>
    </p:spTree>
    <p:extLst>
      <p:ext uri="{BB962C8B-B14F-4D97-AF65-F5344CB8AC3E}">
        <p14:creationId xmlns:p14="http://schemas.microsoft.com/office/powerpoint/2010/main" val="395382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1366-A7D4-B1E9-2D6C-B64B62CE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13F73801-6889-04A4-0CE1-7E5CB43543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3D39883E-CBC7-5638-1559-74133FC7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5F452D74-1D32-79A5-CE7F-F6813CE17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BDB1ADA1-4484-FFF9-0B3F-DBD1829F8C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82C1B276-77B3-8B74-3EBE-44B4E91D9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52D0D-A908-6570-16BD-F041ADFBF0F6}"/>
              </a:ext>
            </a:extLst>
          </p:cNvPr>
          <p:cNvSpPr txBox="1"/>
          <p:nvPr/>
        </p:nvSpPr>
        <p:spPr>
          <a:xfrm>
            <a:off x="476188" y="1662585"/>
            <a:ext cx="553375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EMS: Energy Management System</a:t>
            </a:r>
          </a:p>
          <a:p>
            <a:pPr algn="l"/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  <a:p>
            <a:pPr algn="l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This is about when to charge the EV.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Either ‘Sun Mode’: take into account present renewable energy; I only need the EV some time later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Or ‘Mix Mode’: don’t care about present renewable energy; I need the EV anytime soon</a:t>
            </a:r>
          </a:p>
        </p:txBody>
      </p:sp>
      <p:pic>
        <p:nvPicPr>
          <p:cNvPr id="3" name="Picture 2" descr="A diagram of a solar panel and mix mode&#10;&#10;AI-generated content may be incorrect.">
            <a:extLst>
              <a:ext uri="{FF2B5EF4-FFF2-40B4-BE49-F238E27FC236}">
                <a16:creationId xmlns:a16="http://schemas.microsoft.com/office/drawing/2014/main" id="{DE2C29E2-F85D-EC81-0FE9-E65661BF1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896" y="1500878"/>
            <a:ext cx="4700010" cy="430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6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/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/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EMS: details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7298" y="2004939"/>
            <a:ext cx="108228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Demonstration applications for;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Photovoltaic Invertor: ‘PV’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Central Energy Manager: ‘CEM’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Electric Vehicle Charger: ‘EV Charger’</a:t>
            </a:r>
          </a:p>
          <a:p>
            <a:pPr marL="895335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Environment/platform: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For this very presentation: Windows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Also foreseen: Linux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Illustrate the capabilities of </a:t>
            </a:r>
            <a:r>
              <a:rPr lang="en-US" b="1" dirty="0"/>
              <a:t>KNX IoT technology </a:t>
            </a:r>
            <a:r>
              <a:rPr lang="en-US" dirty="0"/>
              <a:t>in managing: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renewable energy</a:t>
            </a:r>
          </a:p>
          <a:p>
            <a:pPr marL="895335" lvl="1" indent="-285750">
              <a:buFontTx/>
              <a:buChar char="-"/>
            </a:pPr>
            <a:r>
              <a:rPr lang="en-US" dirty="0"/>
              <a:t>charging infrastructure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469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0901-5374-48F5-7476-A35DE6A0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827CC31B-AF24-90B3-715B-CEF8BABECD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6538D055-F652-8D0C-ED6A-3A2B4FE7E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95648FC-491B-94BD-2342-D72B1D317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EEB048D9-2A5E-0667-3BB9-7F7643904A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99B02CAD-52CA-393A-965A-19038502F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674AD0-A4ED-8D0D-8149-D13A7BBB7B0B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Demonstration applications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6320D-F2E9-25CA-8969-176BD2AF0AB9}"/>
              </a:ext>
            </a:extLst>
          </p:cNvPr>
          <p:cNvSpPr txBox="1"/>
          <p:nvPr/>
        </p:nvSpPr>
        <p:spPr>
          <a:xfrm>
            <a:off x="687298" y="2004939"/>
            <a:ext cx="10822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Concept: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097AE6-BD5C-5EA0-2EF0-E9B43F2FE605}"/>
              </a:ext>
            </a:extLst>
          </p:cNvPr>
          <p:cNvSpPr/>
          <p:nvPr/>
        </p:nvSpPr>
        <p:spPr>
          <a:xfrm>
            <a:off x="1747952" y="3390162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B0823A-CA62-D23D-2192-7922960A2115}"/>
              </a:ext>
            </a:extLst>
          </p:cNvPr>
          <p:cNvSpPr/>
          <p:nvPr/>
        </p:nvSpPr>
        <p:spPr>
          <a:xfrm>
            <a:off x="3703927" y="3390162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3A46A-F61F-224B-BCFB-A9EAB67535A0}"/>
              </a:ext>
            </a:extLst>
          </p:cNvPr>
          <p:cNvSpPr/>
          <p:nvPr/>
        </p:nvSpPr>
        <p:spPr>
          <a:xfrm>
            <a:off x="5659902" y="3390162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Charger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AC3830-B813-A3B6-E0DA-C1A1237C8EEB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3083735" y="3720609"/>
            <a:ext cx="620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0810A1-AD7D-8D95-3381-31A0DB69439E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039710" y="3720609"/>
            <a:ext cx="620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51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FE4D3-B17B-4BD0-15C0-904848F0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4344DDF7-1070-15A4-4230-68241BF707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3375DA47-16FB-EE3A-17F9-EBD13B6C3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717B995C-42FA-3748-9398-5EA74CB21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3EDEFF8F-3FD1-6293-8AD8-916E0127BA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2A0228F7-5BF9-A606-2461-76994ECAA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9FF7A-469D-E3EA-289C-34454CC900C7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Demonstration applications: Architectural options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8A36EC-FEAD-584A-9CBC-FFBFA9FC9916}"/>
              </a:ext>
            </a:extLst>
          </p:cNvPr>
          <p:cNvSpPr txBox="1"/>
          <p:nvPr/>
        </p:nvSpPr>
        <p:spPr>
          <a:xfrm>
            <a:off x="687298" y="2004939"/>
            <a:ext cx="10822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Base: 3 apps</a:t>
            </a:r>
          </a:p>
          <a:p>
            <a:pPr marL="285750" indent="-285750">
              <a:buFontTx/>
              <a:buChar char="-"/>
            </a:pPr>
            <a:r>
              <a:rPr lang="en-US" dirty="0"/>
              <a:t>Several combinations possible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331368-94C5-7FEA-BF0C-0976B842BE83}"/>
              </a:ext>
            </a:extLst>
          </p:cNvPr>
          <p:cNvSpPr/>
          <p:nvPr/>
        </p:nvSpPr>
        <p:spPr>
          <a:xfrm>
            <a:off x="2164161" y="3429794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PV +</a:t>
            </a:r>
          </a:p>
          <a:p>
            <a:pPr algn="ctr"/>
            <a:r>
              <a:rPr lang="en-US" dirty="0"/>
              <a:t>CEM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58D7F-80F1-D86D-5B6E-8291F2D60F7F}"/>
              </a:ext>
            </a:extLst>
          </p:cNvPr>
          <p:cNvSpPr/>
          <p:nvPr/>
        </p:nvSpPr>
        <p:spPr>
          <a:xfrm>
            <a:off x="4524784" y="3429793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Charger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53DD24-3CA8-5D96-3ED8-21845AF45099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3499944" y="3760240"/>
            <a:ext cx="10248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967AD2E-C0A7-4F73-11DF-EAF1229CBBC2}"/>
              </a:ext>
            </a:extLst>
          </p:cNvPr>
          <p:cNvSpPr/>
          <p:nvPr/>
        </p:nvSpPr>
        <p:spPr>
          <a:xfrm>
            <a:off x="2164161" y="4421134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38054-190F-D882-7FF1-ACBD6D9F7836}"/>
              </a:ext>
            </a:extLst>
          </p:cNvPr>
          <p:cNvSpPr/>
          <p:nvPr/>
        </p:nvSpPr>
        <p:spPr>
          <a:xfrm>
            <a:off x="4524784" y="4421133"/>
            <a:ext cx="1335783" cy="6608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CEM +</a:t>
            </a:r>
          </a:p>
          <a:p>
            <a:pPr algn="ctr"/>
            <a:r>
              <a:rPr lang="en-US" dirty="0"/>
              <a:t>Charger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B378A8-B7C1-65C7-45E0-D2FF93A591E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499944" y="4751580"/>
            <a:ext cx="10248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583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A617-1958-A092-803F-1E15DFF54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7DCACE2E-79BF-37D6-30AD-44D250DAD0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0EE4A938-D406-CD6B-1224-8374AA1E7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42DE5B1D-92EE-4315-D38F-1F90A7579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6120C5BF-FC3C-E776-DA7D-0A75290BC6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B3C08594-5AB3-019A-368E-012FE981B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B18D3-854F-DE17-CE7A-29216EDA0F9A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Photovoltaic app (PV)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BFC3FF-3726-9751-0A73-1FC63B92AFB0}"/>
              </a:ext>
            </a:extLst>
          </p:cNvPr>
          <p:cNvSpPr txBox="1"/>
          <p:nvPr/>
        </p:nvSpPr>
        <p:spPr>
          <a:xfrm>
            <a:off x="687298" y="2004939"/>
            <a:ext cx="10822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Simulates a solar inverter providing data regarding present renewable energy</a:t>
            </a:r>
          </a:p>
          <a:p>
            <a:pPr marL="285750" indent="-285750">
              <a:buFontTx/>
              <a:buChar char="-"/>
            </a:pPr>
            <a:r>
              <a:rPr lang="en-US" dirty="0"/>
              <a:t>Enables adjustment (by means of a slider) of the solar production value (0–10 kW) for testing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ABB39-4FB7-BB38-EFC9-CE2B46B33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243" y="3196579"/>
            <a:ext cx="3194214" cy="135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96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A602-CD02-D30C-9545-5EE229279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124E7DE2-3C1F-452E-57D8-FBB85C4C0B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8D50916B-7595-8869-9984-353591866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886B22A-BAFE-0FDC-DF04-6D124AAFC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137C7BEA-BA01-6456-1AF0-A4214B5E5B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2CE659EA-88EF-F37B-B000-4D3E6F290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D06C0-D8E7-2446-D3E9-44D493A7B071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PV app: how to link?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88239F-31D7-8928-017D-AEE12FAFEE26}"/>
              </a:ext>
            </a:extLst>
          </p:cNvPr>
          <p:cNvSpPr txBox="1"/>
          <p:nvPr/>
        </p:nvSpPr>
        <p:spPr>
          <a:xfrm>
            <a:off x="6658604" y="2063105"/>
            <a:ext cx="4841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Technical details: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1 datapoint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cflags</a:t>
            </a:r>
            <a:r>
              <a:rPr lang="en-US" dirty="0"/>
              <a:t> = t : transmit to medium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url</a:t>
            </a:r>
            <a:r>
              <a:rPr lang="en-US" dirty="0"/>
              <a:t> : /p/</a:t>
            </a:r>
            <a:r>
              <a:rPr lang="en-US" dirty="0" err="1"/>
              <a:t>pv</a:t>
            </a:r>
            <a:r>
              <a:rPr lang="en-US" dirty="0"/>
              <a:t> = present renewable energy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IPv6 multicast: groups the devices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OSCORE: protection of the exchanged data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‘Copy Certificate’: used by CEM for linking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13D838-16C1-DDF0-BD60-F86FF4EC9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336" y="2183924"/>
            <a:ext cx="4108661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4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055C-73D9-7764-5EE7-13D764B5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D02AFCD5-26C5-5A02-1712-7AB21A96A2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16551032-E9B0-D753-E7E7-ED7DA6C2D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1EDF0E29-6582-6155-1814-BC26E1B0E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CC36310E-0BB0-09E7-9AB4-51754C35C4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1F27A5BC-F316-0B8F-CC35-D525E33FB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C7136-7F3E-78EB-1B01-3CE4DB729D67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EV Charger app (Charger)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DC70A8-42B9-29F8-29C9-1D2335C0E3A1}"/>
              </a:ext>
            </a:extLst>
          </p:cNvPr>
          <p:cNvSpPr txBox="1"/>
          <p:nvPr/>
        </p:nvSpPr>
        <p:spPr>
          <a:xfrm>
            <a:off x="687298" y="2004939"/>
            <a:ext cx="10822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Represents an EV charger</a:t>
            </a:r>
          </a:p>
          <a:p>
            <a:pPr marL="285750" indent="-285750">
              <a:buFontTx/>
              <a:buChar char="-"/>
            </a:pPr>
            <a:r>
              <a:rPr lang="en-US" dirty="0"/>
              <a:t>Receives and applies the charging request from the CEM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0BEFA-7669-2F54-EFF9-B187D9EA8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139" y="3314648"/>
            <a:ext cx="3194214" cy="137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1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8D97F-C278-B990-29E2-6C60CC3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794714D3-D210-458D-20AE-369513C283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AC61C499-CAB5-DD08-920A-892EB7639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11C0584-1437-B86A-AB83-659A01DAC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D312D97F-C887-C6A9-E33A-FF751F78F92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E0B556B3-19C0-51A4-E6AE-3DA521708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23866F-96FE-AA95-29EB-1DC93C962D01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Charger app: how to link?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64451E-2F27-0B30-B7A2-D32B54263A43}"/>
              </a:ext>
            </a:extLst>
          </p:cNvPr>
          <p:cNvSpPr txBox="1"/>
          <p:nvPr/>
        </p:nvSpPr>
        <p:spPr>
          <a:xfrm>
            <a:off x="6250406" y="2237885"/>
            <a:ext cx="49610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Technical details: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1 datapoint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cflags</a:t>
            </a:r>
            <a:r>
              <a:rPr lang="en-US" dirty="0"/>
              <a:t> = w : write from medium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url</a:t>
            </a:r>
            <a:r>
              <a:rPr lang="en-US" dirty="0"/>
              <a:t> : /p/charger = requested charge rate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IPv6 multicast: groups the devices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OSCORE: protection of the exchanged data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‘Copy Certificate’: used by CEM for linking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D38764-4F8D-1C9B-DB40-1205B29FA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789" y="2250932"/>
            <a:ext cx="4108661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56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5A5F-F8FD-66FE-4E8C-28F4B253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98C3EBC2-C3F2-A507-55E0-BC2B55B145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6C89F901-6D96-80B0-E762-E477BBAC4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78EF7164-A043-A964-5E08-0B199EEA3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3D7867E7-D612-4888-5375-28614498A8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C3680392-1160-B15F-FDEF-5F08E3D0F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1114D-893F-8CC2-5800-584F36DAE58A}"/>
              </a:ext>
            </a:extLst>
          </p:cNvPr>
          <p:cNvSpPr txBox="1"/>
          <p:nvPr/>
        </p:nvSpPr>
        <p:spPr>
          <a:xfrm>
            <a:off x="690473" y="1296825"/>
            <a:ext cx="842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Central Energy Manager (CEM)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9354A5-7FC0-428B-C1C3-2B6E924F2DF1}"/>
              </a:ext>
            </a:extLst>
          </p:cNvPr>
          <p:cNvSpPr txBox="1"/>
          <p:nvPr/>
        </p:nvSpPr>
        <p:spPr>
          <a:xfrm>
            <a:off x="752191" y="2484302"/>
            <a:ext cx="70644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Acts as the brain of the system (</a:t>
            </a:r>
            <a:r>
              <a:rPr lang="en-US" sz="1600" i="1" dirty="0"/>
              <a:t>‘spider in the web’</a:t>
            </a:r>
            <a:r>
              <a:rPr lang="en-US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In practice: not an end-device, no physical interface onboard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Two operation modes:</a:t>
            </a:r>
          </a:p>
          <a:p>
            <a:pPr marL="895335" lvl="1" indent="-285750">
              <a:buFontTx/>
              <a:buChar char="-"/>
            </a:pPr>
            <a:r>
              <a:rPr lang="en-US" sz="1600" b="1" dirty="0"/>
              <a:t>Sun Mode</a:t>
            </a:r>
            <a:r>
              <a:rPr lang="en-US" sz="1600" dirty="0"/>
              <a:t>: EV charges only if present renewable energy ≥ 4 kW</a:t>
            </a:r>
          </a:p>
          <a:p>
            <a:pPr marL="895335" lvl="1" indent="-285750">
              <a:buFontTx/>
              <a:buChar char="-"/>
            </a:pPr>
            <a:r>
              <a:rPr lang="en-US" sz="1600" b="1" dirty="0"/>
              <a:t>Mix Mode</a:t>
            </a:r>
            <a:r>
              <a:rPr lang="en-US" sz="1600" dirty="0"/>
              <a:t>: EV charges at 4 kW regardless of present renewable energy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Calculates and sends out the appropriate charging rate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Comes with client features: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Read-in device certificates (QR)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Device scanning over the medium (serial numbers)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Linking (commissioning)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5717B-5B3C-634B-C969-865B5A14C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735" y="2004938"/>
            <a:ext cx="3080692" cy="313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0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7525-6B2D-7DA0-D0AA-55C483D5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4C78AB2E-47FA-0E86-F1D4-08522F648F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1678835F-D696-261C-116A-59F36B311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8CFDAD8-1DFC-7D89-74E1-8A18E8A73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0916DBD1-BC85-C323-4089-1B0EEFC63F7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EBE6DF9F-F195-3702-F18F-15512E2F1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B7A50-4EE7-64C0-7648-2B87484E8523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CEM app: how to link the other devices?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7E8DC2-39DA-F1E9-D547-8E5B306BAD9A}"/>
              </a:ext>
            </a:extLst>
          </p:cNvPr>
          <p:cNvSpPr txBox="1"/>
          <p:nvPr/>
        </p:nvSpPr>
        <p:spPr>
          <a:xfrm>
            <a:off x="1128810" y="2036668"/>
            <a:ext cx="49663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Technical details: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2 datapoints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cflags</a:t>
            </a:r>
            <a:r>
              <a:rPr lang="en-US" dirty="0"/>
              <a:t> = w : write from medium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cflags</a:t>
            </a:r>
            <a:r>
              <a:rPr lang="en-US" dirty="0"/>
              <a:t> = t : transmit to medium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url</a:t>
            </a:r>
            <a:r>
              <a:rPr lang="en-US" dirty="0"/>
              <a:t> : /p/</a:t>
            </a:r>
            <a:r>
              <a:rPr lang="en-US" dirty="0" err="1"/>
              <a:t>pv</a:t>
            </a:r>
            <a:r>
              <a:rPr lang="en-US" dirty="0"/>
              <a:t> = present renewable energy</a:t>
            </a:r>
          </a:p>
          <a:p>
            <a:pPr marL="895335" lvl="1" indent="-285750">
              <a:buFontTx/>
              <a:buChar char="-"/>
            </a:pPr>
            <a:r>
              <a:rPr lang="en-US" dirty="0" err="1"/>
              <a:t>url</a:t>
            </a:r>
            <a:r>
              <a:rPr lang="en-US" dirty="0"/>
              <a:t> : /p/charger = requested charge rate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IPv6 multicast: groups the devices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OSCORE: protection of the exchanged data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‘Enter Serial Number’: ???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2BC3CD-0145-15DB-A4A4-D9CE32BDB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075" y="1925383"/>
            <a:ext cx="3670489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6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21410-BFB4-8643-5EBD-DEFCDECB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9F8CE499-F27D-7A66-525A-F0843B9F49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A1C948D0-11A7-8BAE-E65D-11DBB9E44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7EC8D4F-8713-5528-5114-76A2C62B2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B6355047-4C81-4891-E818-35EEBD85F4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98993E0E-FEB1-89E8-7940-42B21456C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34337-C8D5-51DD-32C0-D6D1CBD32786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Linking: initial situation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AF75F1-0836-68EB-0158-7453CA9E3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74" y="1979977"/>
            <a:ext cx="9805969" cy="4117787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B9516786-D08B-D30B-C9F6-7104E5DED593}"/>
              </a:ext>
            </a:extLst>
          </p:cNvPr>
          <p:cNvSpPr/>
          <p:nvPr/>
        </p:nvSpPr>
        <p:spPr>
          <a:xfrm rot="19500999">
            <a:off x="2322917" y="2188657"/>
            <a:ext cx="2112776" cy="698579"/>
          </a:xfrm>
          <a:prstGeom prst="lef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418229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0509-D06E-8D81-947B-D3443DD0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78297F-7DA5-2DFD-F9F9-03DA01754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13" y="1852344"/>
            <a:ext cx="10084318" cy="4210266"/>
          </a:xfrm>
          <a:prstGeom prst="rect">
            <a:avLst/>
          </a:prstGeom>
        </p:spPr>
      </p:pic>
      <p:pic>
        <p:nvPicPr>
          <p:cNvPr id="4098" name="Picture 3">
            <a:extLst>
              <a:ext uri="{FF2B5EF4-FFF2-40B4-BE49-F238E27FC236}">
                <a16:creationId xmlns:a16="http://schemas.microsoft.com/office/drawing/2014/main" id="{BA4D41D3-8C53-5A56-928E-6EC9141B11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CEF21899-D994-7CE0-B764-3C6F13724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42C09BC-65A9-2E02-298C-B0E777C4D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8F020428-F255-872B-0BDB-BBA958987C5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FFAD2AA7-CA64-0F3E-16E8-45CB0D084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CBE3C-A062-7BC7-CF92-655C67663D42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Linking: two devices discovered after scanning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6C1EEAFB-0197-1D94-5E7B-F3707D3208BC}"/>
              </a:ext>
            </a:extLst>
          </p:cNvPr>
          <p:cNvSpPr/>
          <p:nvPr/>
        </p:nvSpPr>
        <p:spPr>
          <a:xfrm rot="19500999">
            <a:off x="3578087" y="2080747"/>
            <a:ext cx="2112776" cy="698579"/>
          </a:xfrm>
          <a:prstGeom prst="lef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64429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71789-C7F3-8D38-1B9B-45E16779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C079B-89C3-8EA6-258F-64C4FBBD8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93" y="1952793"/>
            <a:ext cx="10188034" cy="4095082"/>
          </a:xfrm>
          <a:prstGeom prst="rect">
            <a:avLst/>
          </a:prstGeom>
        </p:spPr>
      </p:pic>
      <p:pic>
        <p:nvPicPr>
          <p:cNvPr id="4098" name="Picture 3">
            <a:extLst>
              <a:ext uri="{FF2B5EF4-FFF2-40B4-BE49-F238E27FC236}">
                <a16:creationId xmlns:a16="http://schemas.microsoft.com/office/drawing/2014/main" id="{B606AFF1-629A-CE71-6762-783033DC339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24566BE7-A3B1-3A95-60C4-042102971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40EA0C7-80AE-DD7B-4C56-B14B70910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98B4E9DB-D1A0-5321-8653-4561DA881B2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3782420C-1A51-C259-E3EF-27CE11072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4FAB8-EF68-E8FD-ED34-4C36CD809A43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Linking: PV linked, Charger not yet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BC54692A-3FBD-2A52-0A2E-E6A89CA86B79}"/>
              </a:ext>
            </a:extLst>
          </p:cNvPr>
          <p:cNvSpPr/>
          <p:nvPr/>
        </p:nvSpPr>
        <p:spPr>
          <a:xfrm rot="19500999">
            <a:off x="3072613" y="2373579"/>
            <a:ext cx="2112776" cy="698579"/>
          </a:xfrm>
          <a:prstGeom prst="lef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419345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6F3E-C8D9-5883-96B7-49779A29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2E8C3F0F-34EF-4C9B-B1EF-1620FEA6914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344D2C66-699E-AAAD-C1BE-FB11F4A2E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D9ECCF80-DE79-70BB-AD9A-2D236B397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00F5AB29-A7B2-4E39-2C9C-FCC29E3AC4B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04FCA3A8-1F8E-A460-FA8F-3B3D37619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BCD6FA-C132-429D-B26C-025377BCB45F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Linking: done, devices are now operational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3BDBB-0B88-9FD4-F957-F31C7B612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73" y="2131219"/>
            <a:ext cx="10070597" cy="343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8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153A-D624-CFA4-6924-1AFC73898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9C682FCB-59A8-157D-C074-B810F2359DA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4C28253C-072F-B566-2573-D81046FBC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00CCF22B-3AF3-DE4F-2E4B-2457F38EE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8BCF4385-0BAA-5FD0-E14F-9FB8650999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3B1939F8-2044-1D8A-08E5-3E9BDF3BC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8113C3-384B-7206-B16B-100AF0E44F79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Operational devices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DB366-77C5-39FD-B32A-A2664403B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559" y="2137342"/>
            <a:ext cx="7140936" cy="39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5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D8CBB-780E-A7A8-4668-31A41C07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52901F15-DD9C-56AC-B0FF-0C3B7DAEA5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BFC67DDB-A6C2-88D4-DD09-B7E5B1A94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90C760D-1664-9277-F6F6-BC7C2ECED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8940D01C-10C1-0226-22AA-15D57877AB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4BE875CD-E4E5-C25A-9982-1751CFB2E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BB545-A549-1770-EA23-C83EB11EA197}"/>
              </a:ext>
            </a:extLst>
          </p:cNvPr>
          <p:cNvSpPr txBox="1"/>
          <p:nvPr/>
        </p:nvSpPr>
        <p:spPr>
          <a:xfrm>
            <a:off x="3081454" y="2804009"/>
            <a:ext cx="40697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EMS apps: demo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40546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C82F-6C9D-0703-318C-55C5EAD2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602BDB04-A069-E869-C657-1B9E4DCEE4A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0B3BAD59-2CAB-004C-E946-5A8300B28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FB1CAAC1-0280-6F96-1781-8A89BC777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00C68B8A-0F9B-8623-B8ED-7458D269B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6FEFDC1E-62AC-E0FC-5EF0-29407ADC2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B0DDAA-8753-2099-FEB3-B2993A7B960C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Open Source: get it from our GitLab repo</a:t>
            </a:r>
            <a:endParaRPr lang="en-US" sz="2800" dirty="0"/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C99879-ABBF-71E4-99AA-22C9D693B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130" y="1999643"/>
            <a:ext cx="7787508" cy="385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67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46FE-2726-D1AD-87FE-27157B21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>
            <a:extLst>
              <a:ext uri="{FF2B5EF4-FFF2-40B4-BE49-F238E27FC236}">
                <a16:creationId xmlns:a16="http://schemas.microsoft.com/office/drawing/2014/main" id="{3EE891A1-DD04-0038-EE4D-6E14D70515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188" y="440922"/>
            <a:ext cx="1104756" cy="4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7">
            <a:extLst>
              <a:ext uri="{FF2B5EF4-FFF2-40B4-BE49-F238E27FC236}">
                <a16:creationId xmlns:a16="http://schemas.microsoft.com/office/drawing/2014/main" id="{BC8316C6-7801-4B40-D6A1-DD8EBA4A3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309145"/>
            <a:ext cx="12190413" cy="549203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" altLang="en-US" sz="1800">
              <a:solidFill>
                <a:srgbClr val="FFFFFF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6C46F7C-D19A-FDED-25E6-23CA83F87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" y="6391684"/>
            <a:ext cx="2676176" cy="41587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4101" name="Imagen 21" descr="Worldmap.jpg">
            <a:extLst>
              <a:ext uri="{FF2B5EF4-FFF2-40B4-BE49-F238E27FC236}">
                <a16:creationId xmlns:a16="http://schemas.microsoft.com/office/drawing/2014/main" id="{BB53E6EF-497A-BE37-CB00-38B5D8A2B1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26927" y="6340890"/>
            <a:ext cx="1149200" cy="48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TextBox 11">
            <a:extLst>
              <a:ext uri="{FF2B5EF4-FFF2-40B4-BE49-F238E27FC236}">
                <a16:creationId xmlns:a16="http://schemas.microsoft.com/office/drawing/2014/main" id="{6627C574-98DA-2DC1-E985-C32FA283B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608" y="6340890"/>
            <a:ext cx="861900" cy="4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chemeClr val="bg1"/>
                </a:solidFill>
                <a:latin typeface="Gotham Light" pitchFamily="50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bg1"/>
                </a:solidFill>
                <a:latin typeface="Gotham Light" pitchFamily="50" charset="0"/>
              </a:rPr>
              <a:t>www.knx.org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2A2BF-0E5D-C72B-2F38-D51D4A4FDE86}"/>
              </a:ext>
            </a:extLst>
          </p:cNvPr>
          <p:cNvSpPr txBox="1"/>
          <p:nvPr/>
        </p:nvSpPr>
        <p:spPr>
          <a:xfrm>
            <a:off x="690473" y="1296825"/>
            <a:ext cx="8420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EMS apps: c</a:t>
            </a:r>
            <a:r>
              <a:rPr lang="en-US" sz="2800" dirty="0"/>
              <a:t>onsiderations</a:t>
            </a:r>
          </a:p>
          <a:p>
            <a:pPr algn="l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cs typeface="Gotham Medium"/>
              </a:rPr>
              <a:t> </a:t>
            </a: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  <a:latin typeface="Gotham Medium"/>
              <a:cs typeface="Gotham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ACCB6C-E933-982B-8B08-328E99526661}"/>
              </a:ext>
            </a:extLst>
          </p:cNvPr>
          <p:cNvSpPr txBox="1"/>
          <p:nvPr/>
        </p:nvSpPr>
        <p:spPr>
          <a:xfrm>
            <a:off x="1028566" y="2137132"/>
            <a:ext cx="853164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Format of the exchanged power data = KNX standardized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4 datapoints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According to </a:t>
            </a:r>
            <a:r>
              <a:rPr lang="en-US" dirty="0"/>
              <a:t>DPT: 14.056, see KNX standard 3/7/2</a:t>
            </a:r>
          </a:p>
          <a:p>
            <a:pPr marL="1504920" lvl="2" indent="-285750">
              <a:buFontTx/>
              <a:buChar char="-"/>
            </a:pPr>
            <a:r>
              <a:rPr lang="en-US" dirty="0"/>
              <a:t>Size: 4 octets</a:t>
            </a:r>
          </a:p>
          <a:p>
            <a:pPr marL="1504920" lvl="2" indent="-285750">
              <a:buFontTx/>
              <a:buChar char="-"/>
            </a:pPr>
            <a:r>
              <a:rPr lang="en-US" dirty="0"/>
              <a:t>Unit: W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Commissioning: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CEM: Link feature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Open source mini-client</a:t>
            </a:r>
          </a:p>
          <a:p>
            <a:pPr marL="1504920" lvl="2" indent="-285750">
              <a:buFontTx/>
              <a:buChar char="-"/>
            </a:pPr>
            <a:r>
              <a:rPr lang="en-US" sz="1600" dirty="0"/>
              <a:t>Windows: in preparation</a:t>
            </a:r>
          </a:p>
          <a:p>
            <a:pPr marL="1504920" lvl="2" indent="-285750">
              <a:buFontTx/>
              <a:buChar char="-"/>
            </a:pPr>
            <a:r>
              <a:rPr lang="en-US" sz="1600" dirty="0"/>
              <a:t>Android and iOS: still undefined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Certification: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No need to change the format of the exchanged power data</a:t>
            </a:r>
          </a:p>
          <a:p>
            <a:pPr marL="895335" lvl="1" indent="-285750">
              <a:buFontTx/>
              <a:buChar char="-"/>
            </a:pPr>
            <a:r>
              <a:rPr lang="en-US" sz="1600" dirty="0"/>
              <a:t>The link/config datapoints cannot longer be used; commissioning by ETS instead</a:t>
            </a:r>
          </a:p>
        </p:txBody>
      </p:sp>
    </p:spTree>
    <p:extLst>
      <p:ext uri="{BB962C8B-B14F-4D97-AF65-F5344CB8AC3E}">
        <p14:creationId xmlns:p14="http://schemas.microsoft.com/office/powerpoint/2010/main" val="2987153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7E4B0A-6892-4A0A-AE2C-6F4ADAF28F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Christophe Parthoens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B4A55-526C-44FE-8377-35450416D44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7ED7E-8E2E-4DA7-9D2D-B4D23BB00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146246-AF79-4FCB-9D97-0C2243F58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christophe.parthoens</a:t>
            </a:r>
            <a:r>
              <a:rPr lang="en-GB" dirty="0" err="1"/>
              <a:t>@</a:t>
            </a:r>
            <a:r>
              <a:rPr lang="en-GB" err="1"/>
              <a:t>knx</a:t>
            </a:r>
            <a:r>
              <a:rPr lang="en-GB"/>
              <a:t>.org</a:t>
            </a:r>
          </a:p>
        </p:txBody>
      </p:sp>
    </p:spTree>
    <p:extLst>
      <p:ext uri="{BB962C8B-B14F-4D97-AF65-F5344CB8AC3E}">
        <p14:creationId xmlns:p14="http://schemas.microsoft.com/office/powerpoint/2010/main" val="149517314"/>
      </p:ext>
    </p:extLst>
  </p:cSld>
  <p:clrMapOvr>
    <a:masterClrMapping/>
  </p:clrMapOvr>
</p:sld>
</file>

<file path=ppt/theme/theme1.xml><?xml version="1.0" encoding="utf-8"?>
<a:theme xmlns:a="http://schemas.openxmlformats.org/drawingml/2006/main" name="MAIN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Microsoft Office PowerPoint</Application>
  <PresentationFormat>Custom</PresentationFormat>
  <Paragraphs>205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Gotham Light</vt:lpstr>
      <vt:lpstr>Gotham Medium</vt:lpstr>
      <vt:lpstr>Wingdings</vt:lpstr>
      <vt:lpstr>MAIN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Francesco Cusumano</dc:creator>
  <cp:lastModifiedBy>Christophe Parthoens</cp:lastModifiedBy>
  <cp:revision>290</cp:revision>
  <dcterms:created xsi:type="dcterms:W3CDTF">2018-01-30T08:55:51Z</dcterms:created>
  <dcterms:modified xsi:type="dcterms:W3CDTF">2025-10-29T12:32:28Z</dcterms:modified>
</cp:coreProperties>
</file>