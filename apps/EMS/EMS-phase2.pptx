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56" r:id="rId2"/>
    <p:sldId id="331" r:id="rId3"/>
    <p:sldId id="257" r:id="rId4"/>
    <p:sldId id="327" r:id="rId5"/>
    <p:sldId id="328" r:id="rId6"/>
    <p:sldId id="330" r:id="rId7"/>
    <p:sldId id="329" r:id="rId8"/>
    <p:sldId id="332" r:id="rId9"/>
    <p:sldId id="333" r:id="rId10"/>
    <p:sldId id="339" r:id="rId11"/>
    <p:sldId id="334" r:id="rId12"/>
    <p:sldId id="337" r:id="rId13"/>
    <p:sldId id="335" r:id="rId14"/>
    <p:sldId id="338" r:id="rId15"/>
    <p:sldId id="336" r:id="rId16"/>
    <p:sldId id="340" r:id="rId17"/>
    <p:sldId id="326" r:id="rId18"/>
  </p:sldIdLst>
  <p:sldSz cx="12190413" cy="6859588"/>
  <p:notesSz cx="6858000" cy="9144000"/>
  <p:defaultTextStyle>
    <a:defPPr>
      <a:defRPr lang="en-US"/>
    </a:defPPr>
    <a:lvl1pPr algn="l" defTabSz="609585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1pPr>
    <a:lvl2pPr marL="609585" algn="l" defTabSz="609585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2pPr>
    <a:lvl3pPr marL="1219170" algn="l" defTabSz="609585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3pPr>
    <a:lvl4pPr marL="1828754" algn="l" defTabSz="609585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4pPr>
    <a:lvl5pPr marL="2438339" algn="l" defTabSz="609585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5pPr>
    <a:lvl6pPr marL="3047924" algn="l" defTabSz="121917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6pPr>
    <a:lvl7pPr marL="3657509" algn="l" defTabSz="121917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7pPr>
    <a:lvl8pPr marL="4267093" algn="l" defTabSz="121917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8pPr>
    <a:lvl9pPr marL="4876678" algn="l" defTabSz="121917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2161">
          <p15:clr>
            <a:srgbClr val="A4A3A4"/>
          </p15:clr>
        </p15:guide>
        <p15:guide id="4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CA0A3"/>
    <a:srgbClr val="319C32"/>
    <a:srgbClr val="005FAA"/>
    <a:srgbClr val="FF4B0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152" autoAdjust="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76" y="172"/>
      </p:cViewPr>
      <p:guideLst>
        <p:guide orient="horz" pos="2160"/>
        <p:guide pos="2880"/>
        <p:guide orient="horz" pos="2161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9" d="100"/>
          <a:sy n="89" d="100"/>
        </p:scale>
        <p:origin x="3798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smtClean="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smtClean="0"/>
            </a:lvl1pPr>
          </a:lstStyle>
          <a:p>
            <a:pPr>
              <a:defRPr/>
            </a:pPr>
            <a:fld id="{43680DA0-E069-47B2-820F-B17760B79652}" type="datetimeFigureOut">
              <a:rPr lang="en-US"/>
              <a:pPr>
                <a:defRPr/>
              </a:pPr>
              <a:t>10/22/2025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smtClean="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smtClean="0"/>
            </a:lvl1pPr>
          </a:lstStyle>
          <a:p>
            <a:pPr>
              <a:defRPr/>
            </a:pPr>
            <a:fld id="{72E2B0CE-7D60-4185-A293-7FD1A08052C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/>
            </a:lvl1pPr>
          </a:lstStyle>
          <a:p>
            <a:pPr>
              <a:defRPr/>
            </a:pPr>
            <a:fld id="{179E6F39-A840-433A-BE22-D3D3BE5AC0DE}" type="datetimeFigureOut">
              <a:rPr lang="en-GB" altLang="en-US"/>
              <a:pPr>
                <a:defRPr/>
              </a:pPr>
              <a:t>22/10/2025</a:t>
            </a:fld>
            <a:endParaRPr lang="en-GB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7388" y="1143000"/>
            <a:ext cx="5483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GB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/>
            </a:lvl1pPr>
          </a:lstStyle>
          <a:p>
            <a:pPr>
              <a:defRPr/>
            </a:pPr>
            <a:fld id="{F8468829-D356-462D-8529-DA09F0ACC716}" type="slidenum">
              <a:rPr lang="en-GB" altLang="en-US"/>
              <a:pPr>
                <a:defRPr/>
              </a:pPr>
              <a:t>‹#›</a:t>
            </a:fld>
            <a:endParaRPr lang="en-GB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+mn-lt"/>
        <a:ea typeface="MS PGothic" panose="020B0600070205080204" pitchFamily="34" charset="-128"/>
        <a:cs typeface="+mn-cs"/>
      </a:defRPr>
    </a:lvl1pPr>
    <a:lvl2pPr marL="609585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+mn-lt"/>
        <a:ea typeface="MS PGothic" panose="020B0600070205080204" pitchFamily="34" charset="-128"/>
        <a:cs typeface="+mn-cs"/>
      </a:defRPr>
    </a:lvl2pPr>
    <a:lvl3pPr marL="1219170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+mn-lt"/>
        <a:ea typeface="MS PGothic" panose="020B0600070205080204" pitchFamily="34" charset="-128"/>
        <a:cs typeface="+mn-cs"/>
      </a:defRPr>
    </a:lvl3pPr>
    <a:lvl4pPr marL="1828754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+mn-lt"/>
        <a:ea typeface="MS PGothic" panose="020B0600070205080204" pitchFamily="34" charset="-128"/>
        <a:cs typeface="+mn-cs"/>
      </a:defRPr>
    </a:lvl4pPr>
    <a:lvl5pPr marL="2438339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+mn-lt"/>
        <a:ea typeface="MS PGothic" panose="020B0600070205080204" pitchFamily="34" charset="-128"/>
        <a:cs typeface="+mn-cs"/>
      </a:defRPr>
    </a:lvl5pPr>
    <a:lvl6pPr marL="304792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 LEVEL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96824" y="2123206"/>
            <a:ext cx="9186347" cy="996273"/>
          </a:xfrm>
        </p:spPr>
        <p:txBody>
          <a:bodyPr/>
          <a:lstStyle>
            <a:lvl1pPr algn="l">
              <a:defRPr sz="3700" baseline="0">
                <a:latin typeface="Gotham Medium"/>
              </a:defRPr>
            </a:lvl1pPr>
          </a:lstStyle>
          <a:p>
            <a:r>
              <a:rPr lang="en-US" dirty="0"/>
              <a:t>&lt;&lt;Main Title&gt;&gt;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96822" y="3393840"/>
            <a:ext cx="5790446" cy="481805"/>
          </a:xfrm>
        </p:spPr>
        <p:txBody>
          <a:bodyPr/>
          <a:lstStyle>
            <a:lvl1pPr marL="0" indent="0" algn="l">
              <a:buNone/>
              <a:defRPr sz="2700">
                <a:solidFill>
                  <a:schemeClr val="tx1"/>
                </a:solidFill>
                <a:latin typeface="Gotham Light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&lt;&lt;subtitle&gt;&gt;</a:t>
            </a:r>
          </a:p>
        </p:txBody>
      </p:sp>
      <p:pic>
        <p:nvPicPr>
          <p:cNvPr id="10" name="Picture 7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362950" y="4660900"/>
            <a:ext cx="3443288" cy="1735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3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39775" y="279400"/>
            <a:ext cx="1465263" cy="6365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2" name="TextBox 11"/>
          <p:cNvSpPr txBox="1"/>
          <p:nvPr userDrawn="1"/>
        </p:nvSpPr>
        <p:spPr>
          <a:xfrm>
            <a:off x="630238" y="1020763"/>
            <a:ext cx="4224337" cy="522287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Gotham Light"/>
                <a:ea typeface="+mn-ea"/>
                <a:cs typeface="Gotham Light"/>
              </a:rPr>
              <a:t>Smart home and building solutions.</a:t>
            </a:r>
          </a:p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Gotham Light"/>
                <a:ea typeface="+mn-ea"/>
                <a:cs typeface="Gotham Light"/>
              </a:rPr>
              <a:t>Global. Secure. Connected.</a:t>
            </a:r>
          </a:p>
        </p:txBody>
      </p:sp>
    </p:spTree>
    <p:extLst>
      <p:ext uri="{BB962C8B-B14F-4D97-AF65-F5344CB8AC3E}">
        <p14:creationId xmlns:p14="http://schemas.microsoft.com/office/powerpoint/2010/main" val="12347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LEVE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 txBox="1">
            <a:spLocks/>
          </p:cNvSpPr>
          <p:nvPr userDrawn="1"/>
        </p:nvSpPr>
        <p:spPr bwMode="auto">
          <a:xfrm>
            <a:off x="920631" y="3148743"/>
            <a:ext cx="9185138" cy="6684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1917" tIns="60958" rIns="121917" bIns="60958" anchor="ctr"/>
          <a:lstStyle>
            <a:lvl1pPr marL="342900" indent="-342900" algn="l" defTabSz="457200" rtl="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  <a:defRPr sz="2500" kern="1200">
                <a:solidFill>
                  <a:schemeClr val="tx1"/>
                </a:solidFill>
                <a:latin typeface="Gotham Medium"/>
                <a:ea typeface="MS PGothic" panose="020B0600070205080204" pitchFamily="34" charset="-128"/>
                <a:cs typeface="MS PGothic" charset="0"/>
              </a:defRPr>
            </a:lvl1pPr>
            <a:lvl2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  <a:cs typeface="MS PGothic" charset="0"/>
              </a:defRPr>
            </a:lvl2pPr>
            <a:lvl3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  <a:cs typeface="MS PGothic" charset="0"/>
              </a:defRPr>
            </a:lvl3pPr>
            <a:lvl4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  <a:cs typeface="MS PGothic" charset="0"/>
              </a:defRPr>
            </a:lvl4pPr>
            <a:lvl5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  <a:cs typeface="MS PGothic" charset="0"/>
              </a:defRPr>
            </a:lvl5pPr>
            <a:lvl6pPr marL="4572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9144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13716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18288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>
              <a:defRPr/>
            </a:pPr>
            <a:r>
              <a:rPr lang="es-ES_tradnl" err="1"/>
              <a:t>Title</a:t>
            </a:r>
            <a:r>
              <a:rPr lang="es-ES_tradnl"/>
              <a:t> 2 </a:t>
            </a:r>
            <a:r>
              <a:rPr lang="en-US"/>
              <a:t>&lt;&lt;e.g. agenda point&gt;&gt;</a:t>
            </a:r>
          </a:p>
        </p:txBody>
      </p:sp>
      <p:sp>
        <p:nvSpPr>
          <p:cNvPr id="10" name="Subtitle 2"/>
          <p:cNvSpPr txBox="1">
            <a:spLocks/>
          </p:cNvSpPr>
          <p:nvPr userDrawn="1"/>
        </p:nvSpPr>
        <p:spPr bwMode="auto">
          <a:xfrm>
            <a:off x="1248671" y="3868046"/>
            <a:ext cx="5790446" cy="482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1917" tIns="60958" rIns="121917" bIns="60958"/>
          <a:lstStyle>
            <a:lvl1pPr marL="0" indent="0" algn="l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Gotham Light"/>
                <a:ea typeface="MS PGothic" panose="020B0600070205080204" pitchFamily="34" charset="-128"/>
                <a:cs typeface="MS PGothic" charset="0"/>
              </a:defRPr>
            </a:lvl1pPr>
            <a:lvl2pPr marL="4572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MS PGothic" panose="020B0600070205080204" pitchFamily="34" charset="-128"/>
                <a:cs typeface="MS PGothic" charset="0"/>
              </a:defRPr>
            </a:lvl2pPr>
            <a:lvl3pPr marL="9144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MS PGothic" panose="020B0600070205080204" pitchFamily="34" charset="-128"/>
                <a:cs typeface="MS PGothic" charset="0"/>
              </a:defRPr>
            </a:lvl3pPr>
            <a:lvl4pPr marL="13716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MS PGothic" panose="020B0600070205080204" pitchFamily="34" charset="-128"/>
                <a:cs typeface="MS PGothic" charset="0"/>
              </a:defRPr>
            </a:lvl4pPr>
            <a:lvl5pPr marL="18288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MS PGothic" panose="020B0600070205080204" pitchFamily="34" charset="-128"/>
                <a:cs typeface="MS PGothic" charset="0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&lt;&lt;subtitle&gt;&gt;</a:t>
            </a:r>
          </a:p>
        </p:txBody>
      </p:sp>
      <p:sp>
        <p:nvSpPr>
          <p:cNvPr id="16" name="Title 1"/>
          <p:cNvSpPr>
            <a:spLocks noGrp="1"/>
          </p:cNvSpPr>
          <p:nvPr>
            <p:ph type="ctrTitle" hasCustomPrompt="1"/>
          </p:nvPr>
        </p:nvSpPr>
        <p:spPr>
          <a:xfrm>
            <a:off x="920026" y="1449491"/>
            <a:ext cx="9186347" cy="719643"/>
          </a:xfrm>
        </p:spPr>
        <p:txBody>
          <a:bodyPr/>
          <a:lstStyle>
            <a:lvl1pPr marL="457189" indent="-457189" algn="l">
              <a:buFont typeface="Wingdings" panose="05000000000000000000" pitchFamily="2" charset="2"/>
              <a:buChar char="§"/>
              <a:defRPr sz="3300">
                <a:latin typeface="Gotham Medium"/>
              </a:defRPr>
            </a:lvl1pPr>
          </a:lstStyle>
          <a:p>
            <a:r>
              <a:rPr lang="en-US" dirty="0"/>
              <a:t>Title 1 &lt;&lt;e.g. agenda point&gt;&gt;</a:t>
            </a:r>
          </a:p>
        </p:txBody>
      </p:sp>
      <p:sp>
        <p:nvSpPr>
          <p:cNvPr id="17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248671" y="2169134"/>
            <a:ext cx="5790446" cy="481805"/>
          </a:xfrm>
        </p:spPr>
        <p:txBody>
          <a:bodyPr/>
          <a:lstStyle>
            <a:lvl1pPr marL="0" indent="0" algn="l">
              <a:buNone/>
              <a:defRPr sz="2000" baseline="0">
                <a:solidFill>
                  <a:schemeClr val="tx1"/>
                </a:solidFill>
                <a:latin typeface="Gotham Light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&lt;&lt;subtitle&gt;&gt;</a:t>
            </a:r>
          </a:p>
        </p:txBody>
      </p:sp>
      <p:pic>
        <p:nvPicPr>
          <p:cNvPr id="28" name="Picture 3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6250" y="439738"/>
            <a:ext cx="1104900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9" name="Rectángulo 17"/>
          <p:cNvSpPr>
            <a:spLocks noChangeArrowheads="1"/>
          </p:cNvSpPr>
          <p:nvPr userDrawn="1"/>
        </p:nvSpPr>
        <p:spPr bwMode="auto">
          <a:xfrm>
            <a:off x="0" y="6308725"/>
            <a:ext cx="12192000" cy="549275"/>
          </a:xfrm>
          <a:prstGeom prst="rect">
            <a:avLst/>
          </a:prstGeom>
          <a:solidFill>
            <a:srgbClr val="262626"/>
          </a:solidFill>
          <a:ln w="9525">
            <a:solidFill>
              <a:srgbClr val="4A7EBB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8"/>
              </a:srgbClr>
            </a:outerShdw>
          </a:effectLst>
        </p:spPr>
        <p:txBody>
          <a:bodyPr anchor="ctr"/>
          <a:lstStyle/>
          <a:p>
            <a:pPr algn="ctr" eaLnBrk="1" hangingPunct="1"/>
            <a:endParaRPr lang="es-ES" altLang="en-US">
              <a:solidFill>
                <a:srgbClr val="FFFFFF"/>
              </a:solidFill>
            </a:endParaRPr>
          </a:p>
        </p:txBody>
      </p:sp>
      <p:sp>
        <p:nvSpPr>
          <p:cNvPr id="30" name="TextBox 7"/>
          <p:cNvSpPr txBox="1">
            <a:spLocks noChangeArrowheads="1"/>
          </p:cNvSpPr>
          <p:nvPr userDrawn="1"/>
        </p:nvSpPr>
        <p:spPr bwMode="auto">
          <a:xfrm>
            <a:off x="203200" y="6391275"/>
            <a:ext cx="2676525" cy="415925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Smart home and building solutions.</a:t>
            </a:r>
          </a:p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Global. Secure. Connected.</a:t>
            </a:r>
          </a:p>
        </p:txBody>
      </p:sp>
      <p:pic>
        <p:nvPicPr>
          <p:cNvPr id="31" name="Imagen 21" descr="Worldmap.jpg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928350" y="6340475"/>
            <a:ext cx="1149350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TextBox 11"/>
          <p:cNvSpPr txBox="1">
            <a:spLocks noChangeArrowheads="1"/>
          </p:cNvSpPr>
          <p:nvPr userDrawn="1"/>
        </p:nvSpPr>
        <p:spPr bwMode="auto">
          <a:xfrm>
            <a:off x="11168063" y="6340475"/>
            <a:ext cx="862012" cy="461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eaLnBrk="1" hangingPunct="1"/>
            <a:r>
              <a:rPr lang="en-US" altLang="en-US" sz="1500">
                <a:solidFill>
                  <a:schemeClr val="bg1"/>
                </a:solidFill>
                <a:latin typeface="Gotham Light" pitchFamily="50" charset="0"/>
              </a:rPr>
              <a:t>Join </a:t>
            </a:r>
            <a:r>
              <a:rPr lang="en-US" altLang="en-US" sz="1500">
                <a:solidFill>
                  <a:schemeClr val="bg1"/>
                </a:solidFill>
                <a:latin typeface="Gotham Medium" charset="0"/>
              </a:rPr>
              <a:t>us</a:t>
            </a:r>
          </a:p>
          <a:p>
            <a:pPr eaLnBrk="1" hangingPunct="1"/>
            <a:r>
              <a:rPr lang="en-US" altLang="en-US" sz="800">
                <a:solidFill>
                  <a:schemeClr val="bg1"/>
                </a:solidFill>
                <a:latin typeface="Gotham Light" pitchFamily="50" charset="0"/>
              </a:rPr>
              <a:t>www.knx.org</a:t>
            </a:r>
          </a:p>
        </p:txBody>
      </p:sp>
    </p:spTree>
    <p:extLst>
      <p:ext uri="{BB962C8B-B14F-4D97-AF65-F5344CB8AC3E}">
        <p14:creationId xmlns:p14="http://schemas.microsoft.com/office/powerpoint/2010/main" val="34269273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cto 20"/>
          <p:cNvCxnSpPr/>
          <p:nvPr userDrawn="1"/>
        </p:nvCxnSpPr>
        <p:spPr>
          <a:xfrm>
            <a:off x="0" y="1473541"/>
            <a:ext cx="12190413" cy="0"/>
          </a:xfrm>
          <a:prstGeom prst="line">
            <a:avLst/>
          </a:prstGeom>
          <a:ln w="6350" cap="flat"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452908" y="1001035"/>
            <a:ext cx="11149754" cy="444603"/>
          </a:xfrm>
        </p:spPr>
        <p:txBody>
          <a:bodyPr/>
          <a:lstStyle>
            <a:lvl1pPr marL="0" indent="0" algn="ctr">
              <a:buNone/>
              <a:defRPr sz="2700">
                <a:latin typeface="Gotham Medium"/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None/>
              <a:defRPr/>
            </a:lvl5pPr>
          </a:lstStyle>
          <a:p>
            <a:pPr lvl="0"/>
            <a:r>
              <a:rPr lang="en-US" dirty="0"/>
              <a:t>&lt;&lt;Title of slide&gt;&gt;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1" hasCustomPrompt="1"/>
          </p:nvPr>
        </p:nvSpPr>
        <p:spPr>
          <a:xfrm>
            <a:off x="1045802" y="2376814"/>
            <a:ext cx="4890677" cy="644900"/>
          </a:xfrm>
        </p:spPr>
        <p:txBody>
          <a:bodyPr/>
          <a:lstStyle>
            <a:lvl1pPr algn="l" defTabSz="609585" rtl="0" eaLnBrk="1" fontAlgn="base" hangingPunct="1">
              <a:spcBef>
                <a:spcPct val="0"/>
              </a:spcBef>
              <a:spcAft>
                <a:spcPct val="0"/>
              </a:spcAft>
              <a:defRPr lang="en-US" sz="3700" kern="1200" dirty="0">
                <a:solidFill>
                  <a:srgbClr val="404040"/>
                </a:solidFill>
                <a:latin typeface="Gotham Medium" charset="0"/>
                <a:ea typeface="MS PGothic" panose="020B0600070205080204" pitchFamily="34" charset="-128"/>
                <a:cs typeface="+mn-cs"/>
              </a:defRPr>
            </a:lvl1pPr>
          </a:lstStyle>
          <a:p>
            <a:pPr lvl="0"/>
            <a:r>
              <a:rPr lang="en-US" dirty="0"/>
              <a:t>&lt;&lt;Headline&gt;&gt;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12" hasCustomPrompt="1"/>
          </p:nvPr>
        </p:nvSpPr>
        <p:spPr>
          <a:xfrm>
            <a:off x="1546056" y="3299589"/>
            <a:ext cx="4390420" cy="1330633"/>
          </a:xfrm>
        </p:spPr>
        <p:txBody>
          <a:bodyPr/>
          <a:lstStyle>
            <a:lvl1pPr marL="0" indent="0">
              <a:buNone/>
              <a:defRPr lang="en-US" sz="20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Gotham Light"/>
                <a:ea typeface="+mn-ea"/>
                <a:cs typeface="Gotham Light"/>
              </a:defRPr>
            </a:lvl1pPr>
          </a:lstStyle>
          <a:p>
            <a:pPr lvl="0"/>
            <a:r>
              <a:rPr lang="en-US" dirty="0"/>
              <a:t>&lt;&lt;Description of picture&gt;&gt;</a:t>
            </a:r>
          </a:p>
          <a:p>
            <a:pPr lvl="0"/>
            <a:r>
              <a:rPr lang="en-US" dirty="0"/>
              <a:t>&lt;&lt;caption&gt;&gt;</a:t>
            </a:r>
          </a:p>
        </p:txBody>
      </p:sp>
      <p:sp>
        <p:nvSpPr>
          <p:cNvPr id="21" name="Picture Placeholder 20"/>
          <p:cNvSpPr>
            <a:spLocks noGrp="1"/>
          </p:cNvSpPr>
          <p:nvPr>
            <p:ph type="pic" sz="quarter" idx="13"/>
          </p:nvPr>
        </p:nvSpPr>
        <p:spPr>
          <a:xfrm>
            <a:off x="5936478" y="1927672"/>
            <a:ext cx="6253935" cy="3136039"/>
          </a:xfrm>
        </p:spPr>
        <p:txBody>
          <a:bodyPr/>
          <a:lstStyle/>
          <a:p>
            <a:pPr lvl="0"/>
            <a:endParaRPr lang="en-US" noProof="0"/>
          </a:p>
        </p:txBody>
      </p:sp>
      <p:pic>
        <p:nvPicPr>
          <p:cNvPr id="12" name="Picture 3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6250" y="439738"/>
            <a:ext cx="1104900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3" name="Rectángulo 17"/>
          <p:cNvSpPr>
            <a:spLocks noChangeArrowheads="1"/>
          </p:cNvSpPr>
          <p:nvPr userDrawn="1"/>
        </p:nvSpPr>
        <p:spPr bwMode="auto">
          <a:xfrm>
            <a:off x="0" y="6308725"/>
            <a:ext cx="12192000" cy="549275"/>
          </a:xfrm>
          <a:prstGeom prst="rect">
            <a:avLst/>
          </a:prstGeom>
          <a:solidFill>
            <a:srgbClr val="262626"/>
          </a:solidFill>
          <a:ln w="9525">
            <a:solidFill>
              <a:srgbClr val="4A7EBB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8"/>
              </a:srgbClr>
            </a:outerShdw>
          </a:effectLst>
        </p:spPr>
        <p:txBody>
          <a:bodyPr anchor="ctr"/>
          <a:lstStyle/>
          <a:p>
            <a:pPr algn="ctr" eaLnBrk="1" hangingPunct="1"/>
            <a:endParaRPr lang="es-ES" altLang="en-US">
              <a:solidFill>
                <a:srgbClr val="FFFFFF"/>
              </a:solidFill>
            </a:endParaRPr>
          </a:p>
        </p:txBody>
      </p:sp>
      <p:sp>
        <p:nvSpPr>
          <p:cNvPr id="15" name="TextBox 7"/>
          <p:cNvSpPr txBox="1">
            <a:spLocks noChangeArrowheads="1"/>
          </p:cNvSpPr>
          <p:nvPr userDrawn="1"/>
        </p:nvSpPr>
        <p:spPr bwMode="auto">
          <a:xfrm>
            <a:off x="203200" y="6391275"/>
            <a:ext cx="2676525" cy="415925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Smart home and building solutions.</a:t>
            </a:r>
          </a:p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Global. Secure. Connected.</a:t>
            </a:r>
          </a:p>
        </p:txBody>
      </p:sp>
      <p:pic>
        <p:nvPicPr>
          <p:cNvPr id="17" name="Imagen 21" descr="Worldmap.jpg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928350" y="6340475"/>
            <a:ext cx="1149350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9" name="TextBox 11"/>
          <p:cNvSpPr txBox="1">
            <a:spLocks noChangeArrowheads="1"/>
          </p:cNvSpPr>
          <p:nvPr userDrawn="1"/>
        </p:nvSpPr>
        <p:spPr bwMode="auto">
          <a:xfrm>
            <a:off x="11168063" y="6340475"/>
            <a:ext cx="862012" cy="461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eaLnBrk="1" hangingPunct="1"/>
            <a:r>
              <a:rPr lang="en-US" altLang="en-US" sz="1500">
                <a:solidFill>
                  <a:schemeClr val="bg1"/>
                </a:solidFill>
                <a:latin typeface="Gotham Light" pitchFamily="50" charset="0"/>
              </a:rPr>
              <a:t>Join </a:t>
            </a:r>
            <a:r>
              <a:rPr lang="en-US" altLang="en-US" sz="1500">
                <a:solidFill>
                  <a:schemeClr val="bg1"/>
                </a:solidFill>
                <a:latin typeface="Gotham Medium" charset="0"/>
              </a:rPr>
              <a:t>us</a:t>
            </a:r>
          </a:p>
          <a:p>
            <a:pPr eaLnBrk="1" hangingPunct="1"/>
            <a:r>
              <a:rPr lang="en-US" altLang="en-US" sz="800">
                <a:solidFill>
                  <a:schemeClr val="bg1"/>
                </a:solidFill>
                <a:latin typeface="Gotham Light" pitchFamily="50" charset="0"/>
              </a:rPr>
              <a:t>www.knx.org</a:t>
            </a:r>
          </a:p>
        </p:txBody>
      </p:sp>
    </p:spTree>
    <p:extLst>
      <p:ext uri="{BB962C8B-B14F-4D97-AF65-F5344CB8AC3E}">
        <p14:creationId xmlns:p14="http://schemas.microsoft.com/office/powerpoint/2010/main" val="6332724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Conector recto 20"/>
          <p:cNvCxnSpPr/>
          <p:nvPr userDrawn="1"/>
        </p:nvCxnSpPr>
        <p:spPr>
          <a:xfrm>
            <a:off x="0" y="1473541"/>
            <a:ext cx="12190413" cy="0"/>
          </a:xfrm>
          <a:prstGeom prst="line">
            <a:avLst/>
          </a:prstGeom>
          <a:ln w="6350" cap="flat"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13"/>
          <p:cNvSpPr>
            <a:spLocks noGrp="1"/>
          </p:cNvSpPr>
          <p:nvPr>
            <p:ph type="body" sz="quarter" idx="10"/>
          </p:nvPr>
        </p:nvSpPr>
        <p:spPr>
          <a:xfrm>
            <a:off x="452908" y="1001035"/>
            <a:ext cx="11149754" cy="444603"/>
          </a:xfrm>
        </p:spPr>
        <p:txBody>
          <a:bodyPr/>
          <a:lstStyle>
            <a:lvl1pPr marL="0" indent="0" algn="ctr">
              <a:buNone/>
              <a:defRPr sz="2700">
                <a:latin typeface="Gotham Medium"/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1" hasCustomPrompt="1"/>
          </p:nvPr>
        </p:nvSpPr>
        <p:spPr>
          <a:xfrm>
            <a:off x="643383" y="1915761"/>
            <a:ext cx="2415104" cy="574504"/>
          </a:xfrm>
        </p:spPr>
        <p:txBody>
          <a:bodyPr/>
          <a:lstStyle>
            <a:lvl1pPr algn="l" defTabSz="609585" rtl="0" eaLnBrk="1" fontAlgn="base" hangingPunct="1">
              <a:spcBef>
                <a:spcPct val="0"/>
              </a:spcBef>
              <a:spcAft>
                <a:spcPct val="0"/>
              </a:spcAft>
              <a:defRPr lang="en-US" sz="1900" kern="1200" dirty="0">
                <a:solidFill>
                  <a:srgbClr val="404040"/>
                </a:solidFill>
                <a:latin typeface="Gotham Medium" charset="0"/>
                <a:ea typeface="MS PGothic" panose="020B0600070205080204" pitchFamily="34" charset="-128"/>
                <a:cs typeface="+mn-cs"/>
              </a:defRPr>
            </a:lvl1pPr>
          </a:lstStyle>
          <a:p>
            <a:pPr lvl="0"/>
            <a:r>
              <a:rPr lang="en-US" dirty="0"/>
              <a:t>&lt;&lt;Title&gt;&gt;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12" hasCustomPrompt="1"/>
          </p:nvPr>
        </p:nvSpPr>
        <p:spPr>
          <a:xfrm>
            <a:off x="3418155" y="1761851"/>
            <a:ext cx="4390420" cy="932988"/>
          </a:xfrm>
        </p:spPr>
        <p:txBody>
          <a:bodyPr/>
          <a:lstStyle>
            <a:lvl1pPr marL="0" indent="0">
              <a:buNone/>
              <a:defRPr lang="en-US" sz="16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Gotham Light"/>
                <a:ea typeface="+mn-ea"/>
                <a:cs typeface="Gotham Light"/>
              </a:defRPr>
            </a:lvl1pPr>
          </a:lstStyle>
          <a:p>
            <a:pPr lvl="0"/>
            <a:r>
              <a:rPr lang="en-US" dirty="0"/>
              <a:t>&lt;&lt;Description of picture&gt;&gt;</a:t>
            </a:r>
          </a:p>
          <a:p>
            <a:pPr lvl="0"/>
            <a:r>
              <a:rPr lang="en-US" dirty="0"/>
              <a:t>&lt;&lt;caption&gt;&gt;</a:t>
            </a:r>
          </a:p>
        </p:txBody>
      </p:sp>
      <p:sp>
        <p:nvSpPr>
          <p:cNvPr id="21" name="Picture Placeholder 20"/>
          <p:cNvSpPr>
            <a:spLocks noGrp="1"/>
          </p:cNvSpPr>
          <p:nvPr>
            <p:ph type="pic" sz="quarter" idx="13"/>
          </p:nvPr>
        </p:nvSpPr>
        <p:spPr>
          <a:xfrm>
            <a:off x="8518475" y="1501446"/>
            <a:ext cx="3671938" cy="1402765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15" name="Text Placeholder 15"/>
          <p:cNvSpPr>
            <a:spLocks noGrp="1"/>
          </p:cNvSpPr>
          <p:nvPr>
            <p:ph type="body" sz="quarter" idx="14" hasCustomPrompt="1"/>
          </p:nvPr>
        </p:nvSpPr>
        <p:spPr>
          <a:xfrm>
            <a:off x="661530" y="3587108"/>
            <a:ext cx="2415104" cy="574504"/>
          </a:xfrm>
        </p:spPr>
        <p:txBody>
          <a:bodyPr/>
          <a:lstStyle>
            <a:lvl1pPr algn="l" defTabSz="609585" rtl="0" eaLnBrk="1" fontAlgn="base" hangingPunct="1">
              <a:spcBef>
                <a:spcPct val="0"/>
              </a:spcBef>
              <a:spcAft>
                <a:spcPct val="0"/>
              </a:spcAft>
              <a:defRPr lang="en-US" sz="1900" kern="1200" dirty="0">
                <a:solidFill>
                  <a:srgbClr val="404040"/>
                </a:solidFill>
                <a:latin typeface="Gotham Medium" charset="0"/>
                <a:ea typeface="MS PGothic" panose="020B0600070205080204" pitchFamily="34" charset="-128"/>
                <a:cs typeface="+mn-cs"/>
              </a:defRPr>
            </a:lvl1pPr>
          </a:lstStyle>
          <a:p>
            <a:pPr lvl="0"/>
            <a:r>
              <a:rPr lang="en-US" dirty="0"/>
              <a:t>&lt;&lt;Title&gt;&gt;</a:t>
            </a:r>
          </a:p>
        </p:txBody>
      </p:sp>
      <p:sp>
        <p:nvSpPr>
          <p:cNvPr id="17" name="Text Placeholder 17"/>
          <p:cNvSpPr>
            <a:spLocks noGrp="1"/>
          </p:cNvSpPr>
          <p:nvPr>
            <p:ph type="body" sz="quarter" idx="15" hasCustomPrompt="1"/>
          </p:nvPr>
        </p:nvSpPr>
        <p:spPr>
          <a:xfrm>
            <a:off x="3436302" y="3433199"/>
            <a:ext cx="4390420" cy="932988"/>
          </a:xfrm>
        </p:spPr>
        <p:txBody>
          <a:bodyPr/>
          <a:lstStyle>
            <a:lvl1pPr marL="0" indent="0">
              <a:buNone/>
              <a:defRPr lang="en-US" sz="16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Gotham Light"/>
                <a:ea typeface="+mn-ea"/>
                <a:cs typeface="Gotham Light"/>
              </a:defRPr>
            </a:lvl1pPr>
          </a:lstStyle>
          <a:p>
            <a:pPr lvl="0"/>
            <a:r>
              <a:rPr lang="en-US" dirty="0"/>
              <a:t>&lt;&lt;Description of picture&gt;&gt;</a:t>
            </a:r>
          </a:p>
          <a:p>
            <a:pPr lvl="0"/>
            <a:r>
              <a:rPr lang="en-US" dirty="0"/>
              <a:t>&lt;&lt;caption&gt;&gt;</a:t>
            </a:r>
          </a:p>
        </p:txBody>
      </p:sp>
      <p:sp>
        <p:nvSpPr>
          <p:cNvPr id="19" name="Picture Placeholder 20"/>
          <p:cNvSpPr>
            <a:spLocks noGrp="1"/>
          </p:cNvSpPr>
          <p:nvPr>
            <p:ph type="pic" sz="quarter" idx="16"/>
          </p:nvPr>
        </p:nvSpPr>
        <p:spPr>
          <a:xfrm>
            <a:off x="8536622" y="3172794"/>
            <a:ext cx="3671938" cy="1402765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20" name="Text Placeholder 15"/>
          <p:cNvSpPr>
            <a:spLocks noGrp="1"/>
          </p:cNvSpPr>
          <p:nvPr>
            <p:ph type="body" sz="quarter" idx="17" hasCustomPrompt="1"/>
          </p:nvPr>
        </p:nvSpPr>
        <p:spPr>
          <a:xfrm>
            <a:off x="668784" y="5282951"/>
            <a:ext cx="2415104" cy="574504"/>
          </a:xfrm>
        </p:spPr>
        <p:txBody>
          <a:bodyPr/>
          <a:lstStyle>
            <a:lvl1pPr algn="l" defTabSz="609585" rtl="0" eaLnBrk="1" fontAlgn="base" hangingPunct="1">
              <a:spcBef>
                <a:spcPct val="0"/>
              </a:spcBef>
              <a:spcAft>
                <a:spcPct val="0"/>
              </a:spcAft>
              <a:defRPr lang="en-US" sz="1900" kern="1200" dirty="0">
                <a:solidFill>
                  <a:srgbClr val="404040"/>
                </a:solidFill>
                <a:latin typeface="Gotham Medium" charset="0"/>
                <a:ea typeface="MS PGothic" panose="020B0600070205080204" pitchFamily="34" charset="-128"/>
                <a:cs typeface="+mn-cs"/>
              </a:defRPr>
            </a:lvl1pPr>
          </a:lstStyle>
          <a:p>
            <a:pPr lvl="0"/>
            <a:r>
              <a:rPr lang="en-US" dirty="0"/>
              <a:t>&lt;&lt;Title&gt;&gt;</a:t>
            </a:r>
          </a:p>
        </p:txBody>
      </p:sp>
      <p:sp>
        <p:nvSpPr>
          <p:cNvPr id="22" name="Text Placeholder 17"/>
          <p:cNvSpPr>
            <a:spLocks noGrp="1"/>
          </p:cNvSpPr>
          <p:nvPr>
            <p:ph type="body" sz="quarter" idx="18" hasCustomPrompt="1"/>
          </p:nvPr>
        </p:nvSpPr>
        <p:spPr>
          <a:xfrm>
            <a:off x="3443556" y="5129043"/>
            <a:ext cx="4390420" cy="932988"/>
          </a:xfrm>
        </p:spPr>
        <p:txBody>
          <a:bodyPr/>
          <a:lstStyle>
            <a:lvl1pPr marL="0" indent="0">
              <a:buNone/>
              <a:defRPr lang="en-US" sz="16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Gotham Light"/>
                <a:ea typeface="+mn-ea"/>
                <a:cs typeface="Gotham Light"/>
              </a:defRPr>
            </a:lvl1pPr>
          </a:lstStyle>
          <a:p>
            <a:pPr lvl="0"/>
            <a:r>
              <a:rPr lang="en-US" dirty="0"/>
              <a:t>&lt;&lt;Description of picture&gt;&gt;</a:t>
            </a:r>
          </a:p>
          <a:p>
            <a:pPr lvl="0"/>
            <a:r>
              <a:rPr lang="en-US" dirty="0"/>
              <a:t>&lt;&lt;caption&gt;&gt;</a:t>
            </a:r>
          </a:p>
        </p:txBody>
      </p:sp>
      <p:sp>
        <p:nvSpPr>
          <p:cNvPr id="23" name="Picture Placeholder 20"/>
          <p:cNvSpPr>
            <a:spLocks noGrp="1"/>
          </p:cNvSpPr>
          <p:nvPr>
            <p:ph type="pic" sz="quarter" idx="19"/>
          </p:nvPr>
        </p:nvSpPr>
        <p:spPr>
          <a:xfrm>
            <a:off x="8543876" y="4868638"/>
            <a:ext cx="3671938" cy="1402765"/>
          </a:xfrm>
        </p:spPr>
        <p:txBody>
          <a:bodyPr/>
          <a:lstStyle/>
          <a:p>
            <a:pPr lvl="0"/>
            <a:endParaRPr lang="en-US" noProof="0"/>
          </a:p>
        </p:txBody>
      </p:sp>
      <p:pic>
        <p:nvPicPr>
          <p:cNvPr id="28" name="Picture 3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6250" y="439738"/>
            <a:ext cx="1104900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9" name="Rectángulo 17"/>
          <p:cNvSpPr>
            <a:spLocks noChangeArrowheads="1"/>
          </p:cNvSpPr>
          <p:nvPr userDrawn="1"/>
        </p:nvSpPr>
        <p:spPr bwMode="auto">
          <a:xfrm>
            <a:off x="0" y="6308725"/>
            <a:ext cx="12192000" cy="549275"/>
          </a:xfrm>
          <a:prstGeom prst="rect">
            <a:avLst/>
          </a:prstGeom>
          <a:solidFill>
            <a:srgbClr val="262626"/>
          </a:solidFill>
          <a:ln w="9525">
            <a:solidFill>
              <a:srgbClr val="4A7EBB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8"/>
              </a:srgbClr>
            </a:outerShdw>
          </a:effectLst>
        </p:spPr>
        <p:txBody>
          <a:bodyPr anchor="ctr"/>
          <a:lstStyle/>
          <a:p>
            <a:pPr algn="ctr" eaLnBrk="1" hangingPunct="1"/>
            <a:endParaRPr lang="es-ES" altLang="en-US">
              <a:solidFill>
                <a:srgbClr val="FFFFFF"/>
              </a:solidFill>
            </a:endParaRPr>
          </a:p>
        </p:txBody>
      </p:sp>
      <p:sp>
        <p:nvSpPr>
          <p:cNvPr id="30" name="TextBox 7"/>
          <p:cNvSpPr txBox="1">
            <a:spLocks noChangeArrowheads="1"/>
          </p:cNvSpPr>
          <p:nvPr userDrawn="1"/>
        </p:nvSpPr>
        <p:spPr bwMode="auto">
          <a:xfrm>
            <a:off x="203200" y="6391275"/>
            <a:ext cx="2676525" cy="415925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Smart home and building solutions.</a:t>
            </a:r>
          </a:p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Global. Secure. Connected.</a:t>
            </a:r>
          </a:p>
        </p:txBody>
      </p:sp>
      <p:pic>
        <p:nvPicPr>
          <p:cNvPr id="31" name="Imagen 21" descr="Worldmap.jpg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928350" y="6340475"/>
            <a:ext cx="1149350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TextBox 11"/>
          <p:cNvSpPr txBox="1">
            <a:spLocks noChangeArrowheads="1"/>
          </p:cNvSpPr>
          <p:nvPr userDrawn="1"/>
        </p:nvSpPr>
        <p:spPr bwMode="auto">
          <a:xfrm>
            <a:off x="11168063" y="6340475"/>
            <a:ext cx="862012" cy="461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eaLnBrk="1" hangingPunct="1"/>
            <a:r>
              <a:rPr lang="en-US" altLang="en-US" sz="1500">
                <a:solidFill>
                  <a:schemeClr val="bg1"/>
                </a:solidFill>
                <a:latin typeface="Gotham Light" pitchFamily="50" charset="0"/>
              </a:rPr>
              <a:t>Join </a:t>
            </a:r>
            <a:r>
              <a:rPr lang="en-US" altLang="en-US" sz="1500">
                <a:solidFill>
                  <a:schemeClr val="bg1"/>
                </a:solidFill>
                <a:latin typeface="Gotham Medium" charset="0"/>
              </a:rPr>
              <a:t>us</a:t>
            </a:r>
          </a:p>
          <a:p>
            <a:pPr eaLnBrk="1" hangingPunct="1"/>
            <a:r>
              <a:rPr lang="en-US" altLang="en-US" sz="800">
                <a:solidFill>
                  <a:schemeClr val="bg1"/>
                </a:solidFill>
                <a:latin typeface="Gotham Light" pitchFamily="50" charset="0"/>
              </a:rPr>
              <a:t>www.knx.org</a:t>
            </a:r>
          </a:p>
        </p:txBody>
      </p:sp>
    </p:spTree>
    <p:extLst>
      <p:ext uri="{BB962C8B-B14F-4D97-AF65-F5344CB8AC3E}">
        <p14:creationId xmlns:p14="http://schemas.microsoft.com/office/powerpoint/2010/main" val="3925416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LARGE PICTUR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icture Placeholder 20"/>
          <p:cNvSpPr>
            <a:spLocks noGrp="1"/>
          </p:cNvSpPr>
          <p:nvPr>
            <p:ph type="pic" sz="quarter" idx="13"/>
          </p:nvPr>
        </p:nvSpPr>
        <p:spPr>
          <a:xfrm>
            <a:off x="452909" y="1477395"/>
            <a:ext cx="11737504" cy="4836872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452908" y="1001035"/>
            <a:ext cx="11149754" cy="444603"/>
          </a:xfrm>
        </p:spPr>
        <p:txBody>
          <a:bodyPr/>
          <a:lstStyle>
            <a:lvl1pPr marL="0" indent="0" algn="ctr">
              <a:buNone/>
              <a:defRPr sz="2700">
                <a:latin typeface="Gotham Medium"/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None/>
              <a:defRPr/>
            </a:lvl5pPr>
          </a:lstStyle>
          <a:p>
            <a:pPr lvl="0"/>
            <a:r>
              <a:rPr lang="en-US" dirty="0"/>
              <a:t>&lt;&lt;Title&gt;&gt;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12" hasCustomPrompt="1"/>
          </p:nvPr>
        </p:nvSpPr>
        <p:spPr>
          <a:xfrm>
            <a:off x="1078031" y="2021016"/>
            <a:ext cx="4390420" cy="1330633"/>
          </a:xfrm>
        </p:spPr>
        <p:txBody>
          <a:bodyPr/>
          <a:lstStyle>
            <a:lvl1pPr marL="0" indent="0">
              <a:buNone/>
              <a:defRPr lang="en-US" sz="24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Gotham Light"/>
                <a:ea typeface="+mn-ea"/>
                <a:cs typeface="Gotham Light"/>
              </a:defRPr>
            </a:lvl1pPr>
          </a:lstStyle>
          <a:p>
            <a:pPr lvl="0"/>
            <a:r>
              <a:rPr lang="en-US" dirty="0"/>
              <a:t>&lt;&lt;Description of picture&gt;&gt;</a:t>
            </a:r>
          </a:p>
          <a:p>
            <a:pPr lvl="0"/>
            <a:r>
              <a:rPr lang="en-US" dirty="0"/>
              <a:t>&lt;&lt;caption&gt;&gt;</a:t>
            </a:r>
          </a:p>
        </p:txBody>
      </p:sp>
      <p:pic>
        <p:nvPicPr>
          <p:cNvPr id="10" name="Picture 3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6250" y="439738"/>
            <a:ext cx="1104900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Rectángulo 17"/>
          <p:cNvSpPr>
            <a:spLocks noChangeArrowheads="1"/>
          </p:cNvSpPr>
          <p:nvPr userDrawn="1"/>
        </p:nvSpPr>
        <p:spPr bwMode="auto">
          <a:xfrm>
            <a:off x="0" y="6308725"/>
            <a:ext cx="12192000" cy="549275"/>
          </a:xfrm>
          <a:prstGeom prst="rect">
            <a:avLst/>
          </a:prstGeom>
          <a:solidFill>
            <a:srgbClr val="262626"/>
          </a:solidFill>
          <a:ln w="9525">
            <a:solidFill>
              <a:srgbClr val="4A7EBB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8"/>
              </a:srgbClr>
            </a:outerShdw>
          </a:effectLst>
        </p:spPr>
        <p:txBody>
          <a:bodyPr anchor="ctr"/>
          <a:lstStyle/>
          <a:p>
            <a:pPr algn="ctr" eaLnBrk="1" hangingPunct="1"/>
            <a:endParaRPr lang="es-ES" altLang="en-US">
              <a:solidFill>
                <a:srgbClr val="FFFFFF"/>
              </a:solidFill>
            </a:endParaRPr>
          </a:p>
        </p:txBody>
      </p:sp>
      <p:sp>
        <p:nvSpPr>
          <p:cNvPr id="12" name="TextBox 7"/>
          <p:cNvSpPr txBox="1">
            <a:spLocks noChangeArrowheads="1"/>
          </p:cNvSpPr>
          <p:nvPr userDrawn="1"/>
        </p:nvSpPr>
        <p:spPr bwMode="auto">
          <a:xfrm>
            <a:off x="203200" y="6391275"/>
            <a:ext cx="2676525" cy="415925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Smart home and building solutions.</a:t>
            </a:r>
          </a:p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Global. Secure. Connected.</a:t>
            </a:r>
          </a:p>
        </p:txBody>
      </p:sp>
      <p:pic>
        <p:nvPicPr>
          <p:cNvPr id="13" name="Imagen 21" descr="Worldmap.jpg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928350" y="6340475"/>
            <a:ext cx="1149350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5" name="TextBox 11"/>
          <p:cNvSpPr txBox="1">
            <a:spLocks noChangeArrowheads="1"/>
          </p:cNvSpPr>
          <p:nvPr userDrawn="1"/>
        </p:nvSpPr>
        <p:spPr bwMode="auto">
          <a:xfrm>
            <a:off x="11168063" y="6340475"/>
            <a:ext cx="862012" cy="461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eaLnBrk="1" hangingPunct="1"/>
            <a:r>
              <a:rPr lang="en-US" altLang="en-US" sz="1500">
                <a:solidFill>
                  <a:schemeClr val="bg1"/>
                </a:solidFill>
                <a:latin typeface="Gotham Light" pitchFamily="50" charset="0"/>
              </a:rPr>
              <a:t>Join </a:t>
            </a:r>
            <a:r>
              <a:rPr lang="en-US" altLang="en-US" sz="1500">
                <a:solidFill>
                  <a:schemeClr val="bg1"/>
                </a:solidFill>
                <a:latin typeface="Gotham Medium" charset="0"/>
              </a:rPr>
              <a:t>us</a:t>
            </a:r>
          </a:p>
          <a:p>
            <a:pPr eaLnBrk="1" hangingPunct="1"/>
            <a:r>
              <a:rPr lang="en-US" altLang="en-US" sz="800">
                <a:solidFill>
                  <a:schemeClr val="bg1"/>
                </a:solidFill>
                <a:latin typeface="Gotham Light" pitchFamily="50" charset="0"/>
              </a:rPr>
              <a:t>www.knx.org</a:t>
            </a:r>
          </a:p>
        </p:txBody>
      </p:sp>
    </p:spTree>
    <p:extLst>
      <p:ext uri="{BB962C8B-B14F-4D97-AF65-F5344CB8AC3E}">
        <p14:creationId xmlns:p14="http://schemas.microsoft.com/office/powerpoint/2010/main" val="1849940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2645489" y="1466732"/>
            <a:ext cx="7348110" cy="444603"/>
          </a:xfrm>
        </p:spPr>
        <p:txBody>
          <a:bodyPr/>
          <a:lstStyle>
            <a:lvl1pPr marL="0" indent="0" algn="ctr">
              <a:buNone/>
              <a:defRPr sz="2700" baseline="0">
                <a:latin typeface="Gotham Medium"/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None/>
              <a:defRPr/>
            </a:lvl5pPr>
          </a:lstStyle>
          <a:p>
            <a:pPr lvl="0"/>
            <a:r>
              <a:rPr lang="en-US" dirty="0"/>
              <a:t>&lt;&lt;Title&gt;&gt;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12" hasCustomPrompt="1"/>
          </p:nvPr>
        </p:nvSpPr>
        <p:spPr>
          <a:xfrm>
            <a:off x="4021145" y="4999404"/>
            <a:ext cx="5049829" cy="658635"/>
          </a:xfrm>
        </p:spPr>
        <p:txBody>
          <a:bodyPr/>
          <a:lstStyle>
            <a:lvl1pPr marL="0" indent="0" algn="ctr">
              <a:buNone/>
              <a:defRPr lang="en-US" sz="19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Gotham Light"/>
                <a:ea typeface="+mn-ea"/>
                <a:cs typeface="Gotham Light"/>
              </a:defRPr>
            </a:lvl1pPr>
          </a:lstStyle>
          <a:p>
            <a:pPr lvl="0"/>
            <a:r>
              <a:rPr lang="en-US" dirty="0"/>
              <a:t>&lt;&lt;Description of media&gt;&gt;</a:t>
            </a:r>
          </a:p>
          <a:p>
            <a:pPr lvl="0"/>
            <a:r>
              <a:rPr lang="en-US" dirty="0"/>
              <a:t>&lt;&lt;caption&gt;&gt;</a:t>
            </a:r>
          </a:p>
        </p:txBody>
      </p:sp>
      <p:sp>
        <p:nvSpPr>
          <p:cNvPr id="3" name="Media Placeholder 2"/>
          <p:cNvSpPr>
            <a:spLocks noGrp="1"/>
          </p:cNvSpPr>
          <p:nvPr>
            <p:ph type="media" sz="quarter" idx="14"/>
          </p:nvPr>
        </p:nvSpPr>
        <p:spPr>
          <a:xfrm>
            <a:off x="2645489" y="2021356"/>
            <a:ext cx="7348110" cy="2864514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Click icon to add media</a:t>
            </a:r>
          </a:p>
        </p:txBody>
      </p:sp>
      <p:pic>
        <p:nvPicPr>
          <p:cNvPr id="10" name="Picture 3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6250" y="439738"/>
            <a:ext cx="1104900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Rectángulo 17"/>
          <p:cNvSpPr>
            <a:spLocks noChangeArrowheads="1"/>
          </p:cNvSpPr>
          <p:nvPr userDrawn="1"/>
        </p:nvSpPr>
        <p:spPr bwMode="auto">
          <a:xfrm>
            <a:off x="0" y="6308725"/>
            <a:ext cx="12192000" cy="549275"/>
          </a:xfrm>
          <a:prstGeom prst="rect">
            <a:avLst/>
          </a:prstGeom>
          <a:solidFill>
            <a:srgbClr val="262626"/>
          </a:solidFill>
          <a:ln w="9525">
            <a:solidFill>
              <a:srgbClr val="4A7EBB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8"/>
              </a:srgbClr>
            </a:outerShdw>
          </a:effectLst>
        </p:spPr>
        <p:txBody>
          <a:bodyPr anchor="ctr"/>
          <a:lstStyle/>
          <a:p>
            <a:pPr algn="ctr" eaLnBrk="1" hangingPunct="1"/>
            <a:endParaRPr lang="es-ES" altLang="en-US">
              <a:solidFill>
                <a:srgbClr val="FFFFFF"/>
              </a:solidFill>
            </a:endParaRPr>
          </a:p>
        </p:txBody>
      </p:sp>
      <p:sp>
        <p:nvSpPr>
          <p:cNvPr id="12" name="TextBox 7"/>
          <p:cNvSpPr txBox="1">
            <a:spLocks noChangeArrowheads="1"/>
          </p:cNvSpPr>
          <p:nvPr userDrawn="1"/>
        </p:nvSpPr>
        <p:spPr bwMode="auto">
          <a:xfrm>
            <a:off x="203200" y="6391275"/>
            <a:ext cx="2676525" cy="415925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Smart home and building solutions.</a:t>
            </a:r>
          </a:p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Global. Secure. Connected.</a:t>
            </a:r>
          </a:p>
        </p:txBody>
      </p:sp>
      <p:pic>
        <p:nvPicPr>
          <p:cNvPr id="13" name="Imagen 21" descr="Worldmap.jpg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928350" y="6340475"/>
            <a:ext cx="1149350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5" name="TextBox 11"/>
          <p:cNvSpPr txBox="1">
            <a:spLocks noChangeArrowheads="1"/>
          </p:cNvSpPr>
          <p:nvPr userDrawn="1"/>
        </p:nvSpPr>
        <p:spPr bwMode="auto">
          <a:xfrm>
            <a:off x="11168063" y="6340475"/>
            <a:ext cx="862012" cy="461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eaLnBrk="1" hangingPunct="1"/>
            <a:r>
              <a:rPr lang="en-US" altLang="en-US" sz="1500">
                <a:solidFill>
                  <a:schemeClr val="bg1"/>
                </a:solidFill>
                <a:latin typeface="Gotham Light" pitchFamily="50" charset="0"/>
              </a:rPr>
              <a:t>Join </a:t>
            </a:r>
            <a:r>
              <a:rPr lang="en-US" altLang="en-US" sz="1500">
                <a:solidFill>
                  <a:schemeClr val="bg1"/>
                </a:solidFill>
                <a:latin typeface="Gotham Medium" charset="0"/>
              </a:rPr>
              <a:t>us</a:t>
            </a:r>
          </a:p>
          <a:p>
            <a:pPr eaLnBrk="1" hangingPunct="1"/>
            <a:r>
              <a:rPr lang="en-US" altLang="en-US" sz="800">
                <a:solidFill>
                  <a:schemeClr val="bg1"/>
                </a:solidFill>
                <a:latin typeface="Gotham Light" pitchFamily="50" charset="0"/>
              </a:rPr>
              <a:t>www.knx.org</a:t>
            </a:r>
          </a:p>
        </p:txBody>
      </p:sp>
    </p:spTree>
    <p:extLst>
      <p:ext uri="{BB962C8B-B14F-4D97-AF65-F5344CB8AC3E}">
        <p14:creationId xmlns:p14="http://schemas.microsoft.com/office/powerpoint/2010/main" val="15052312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8"/>
          <p:cNvSpPr txBox="1"/>
          <p:nvPr userDrawn="1"/>
        </p:nvSpPr>
        <p:spPr>
          <a:xfrm>
            <a:off x="1923918" y="689958"/>
            <a:ext cx="8094662" cy="1938988"/>
          </a:xfrm>
          <a:prstGeom prst="rect">
            <a:avLst/>
          </a:prstGeom>
          <a:noFill/>
        </p:spPr>
        <p:txBody>
          <a:bodyPr wrap="square" lIns="121917" tIns="60958" rIns="121917" bIns="60958">
            <a:spAutoFit/>
          </a:bodyPr>
          <a:lstStyle>
            <a:defPPr>
              <a:defRPr lang="en-US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  <a:cs typeface="+mn-cs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  <a:cs typeface="+mn-cs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  <a:cs typeface="+mn-cs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  <a:cs typeface="+mn-cs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  <a:cs typeface="+mn-cs"/>
              </a:defRPr>
            </a:lvl9pPr>
          </a:lstStyle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590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ea typeface="+mn-ea"/>
                <a:cs typeface="Gotham Medium"/>
              </a:rPr>
              <a:t>Thank you very much for your attention.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3615704" y="3033912"/>
            <a:ext cx="4734669" cy="257686"/>
          </a:xfrm>
        </p:spPr>
        <p:txBody>
          <a:bodyPr/>
          <a:lstStyle>
            <a:lvl1pPr marL="0" indent="0" algn="ctr" defTabSz="609585" rtl="0" eaLnBrk="1" fontAlgn="base" hangingPunct="1">
              <a:spcBef>
                <a:spcPct val="0"/>
              </a:spcBef>
              <a:spcAft>
                <a:spcPct val="0"/>
              </a:spcAft>
              <a:buNone/>
              <a:defRPr lang="en-US" sz="1900" dirty="0" smtClean="0">
                <a:latin typeface="Gotham Medium"/>
              </a:defRPr>
            </a:lvl1pPr>
          </a:lstStyle>
          <a:p>
            <a:pPr algn="ctr" eaLnBrk="1" hangingPunct="1"/>
            <a:r>
              <a:rPr lang="en-US" altLang="en-US" sz="1900" dirty="0">
                <a:solidFill>
                  <a:srgbClr val="404040"/>
                </a:solidFill>
                <a:latin typeface="Gotham Medium" charset="0"/>
              </a:rPr>
              <a:t>[Full name of presenter]</a:t>
            </a:r>
          </a:p>
          <a:p>
            <a:pPr algn="ctr" eaLnBrk="1" hangingPunct="1"/>
            <a:endParaRPr lang="en-US" altLang="en-US" sz="1900" dirty="0">
              <a:solidFill>
                <a:srgbClr val="404040"/>
              </a:solidFill>
              <a:latin typeface="Gotham Light" charset="0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2" hasCustomPrompt="1"/>
          </p:nvPr>
        </p:nvSpPr>
        <p:spPr>
          <a:xfrm>
            <a:off x="3603008" y="3308271"/>
            <a:ext cx="4736483" cy="252697"/>
          </a:xfrm>
        </p:spPr>
        <p:txBody>
          <a:bodyPr/>
          <a:lstStyle>
            <a:lvl1pPr marL="0" indent="0" algn="ctr">
              <a:buNone/>
              <a:defRPr sz="1300" baseline="0">
                <a:latin typeface="Gotham Light"/>
              </a:defRPr>
            </a:lvl1pPr>
          </a:lstStyle>
          <a:p>
            <a:pPr lvl="0"/>
            <a:r>
              <a:rPr lang="en-US" dirty="0"/>
              <a:t>[Position of presenter]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3622967" y="3659985"/>
            <a:ext cx="4734669" cy="257686"/>
          </a:xfrm>
        </p:spPr>
        <p:txBody>
          <a:bodyPr/>
          <a:lstStyle>
            <a:lvl1pPr marL="0" indent="0" algn="ctr" defTabSz="609585" rtl="0" eaLnBrk="1" fontAlgn="base" hangingPunct="1">
              <a:spcBef>
                <a:spcPct val="0"/>
              </a:spcBef>
              <a:spcAft>
                <a:spcPct val="0"/>
              </a:spcAft>
              <a:buNone/>
              <a:defRPr lang="en-US" sz="1900" dirty="0" smtClean="0">
                <a:latin typeface="Gotham Medium"/>
              </a:defRPr>
            </a:lvl1pPr>
          </a:lstStyle>
          <a:p>
            <a:pPr algn="ctr" eaLnBrk="1" hangingPunct="1"/>
            <a:r>
              <a:rPr lang="en-US" altLang="en-US" sz="1900" dirty="0">
                <a:solidFill>
                  <a:srgbClr val="404040"/>
                </a:solidFill>
                <a:latin typeface="Gotham Medium" charset="0"/>
              </a:rPr>
              <a:t>[Phone number]</a:t>
            </a:r>
          </a:p>
          <a:p>
            <a:pPr algn="ctr" eaLnBrk="1" hangingPunct="1"/>
            <a:endParaRPr lang="en-US" altLang="en-US" sz="1900" dirty="0">
              <a:solidFill>
                <a:srgbClr val="404040"/>
              </a:solidFill>
              <a:latin typeface="Gotham Light" charset="0"/>
            </a:endParaRPr>
          </a:p>
        </p:txBody>
      </p:sp>
      <p:sp>
        <p:nvSpPr>
          <p:cNvPr id="1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619342" y="3943078"/>
            <a:ext cx="4734669" cy="257686"/>
          </a:xfrm>
        </p:spPr>
        <p:txBody>
          <a:bodyPr/>
          <a:lstStyle>
            <a:lvl1pPr marL="0" indent="0" algn="ctr" defTabSz="609585" rtl="0" eaLnBrk="1" fontAlgn="base" hangingPunct="1">
              <a:spcBef>
                <a:spcPct val="0"/>
              </a:spcBef>
              <a:spcAft>
                <a:spcPct val="0"/>
              </a:spcAft>
              <a:buNone/>
              <a:defRPr lang="en-US" sz="1900" dirty="0" smtClean="0">
                <a:latin typeface="Gotham Medium"/>
              </a:defRPr>
            </a:lvl1pPr>
          </a:lstStyle>
          <a:p>
            <a:pPr algn="ctr" eaLnBrk="1" hangingPunct="1"/>
            <a:r>
              <a:rPr lang="en-US" altLang="en-US" sz="1900" dirty="0">
                <a:solidFill>
                  <a:srgbClr val="404040"/>
                </a:solidFill>
                <a:latin typeface="Gotham Medium" charset="0"/>
              </a:rPr>
              <a:t>[Email]</a:t>
            </a:r>
          </a:p>
          <a:p>
            <a:pPr algn="ctr" eaLnBrk="1" hangingPunct="1"/>
            <a:endParaRPr lang="en-US" altLang="en-US" sz="1900" dirty="0">
              <a:solidFill>
                <a:srgbClr val="404040"/>
              </a:solidFill>
              <a:latin typeface="Gotham Light" charset="0"/>
            </a:endParaRPr>
          </a:p>
        </p:txBody>
      </p:sp>
      <p:sp>
        <p:nvSpPr>
          <p:cNvPr id="15" name="TextBox 12"/>
          <p:cNvSpPr txBox="1">
            <a:spLocks noChangeArrowheads="1"/>
          </p:cNvSpPr>
          <p:nvPr userDrawn="1"/>
        </p:nvSpPr>
        <p:spPr bwMode="auto">
          <a:xfrm>
            <a:off x="3622967" y="4346952"/>
            <a:ext cx="4734669" cy="7078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8" rIns="121917" bIns="60958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US" altLang="en-US" sz="1900">
                <a:solidFill>
                  <a:srgbClr val="404040"/>
                </a:solidFill>
                <a:latin typeface="Gotham Light" charset="0"/>
              </a:rPr>
              <a:t>For general questions: </a:t>
            </a:r>
          </a:p>
          <a:p>
            <a:pPr algn="ctr" eaLnBrk="1" hangingPunct="1"/>
            <a:r>
              <a:rPr lang="en-US" altLang="en-US" sz="1900">
                <a:solidFill>
                  <a:srgbClr val="404040"/>
                </a:solidFill>
                <a:latin typeface="Gotham Light" charset="0"/>
              </a:rPr>
              <a:t>info@knx.org – www.knx.org</a:t>
            </a:r>
          </a:p>
        </p:txBody>
      </p:sp>
      <p:pic>
        <p:nvPicPr>
          <p:cNvPr id="13" name="Picture 7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826500" y="5010150"/>
            <a:ext cx="2935288" cy="1479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6" name="Picture 3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41375" y="5222875"/>
            <a:ext cx="1465263" cy="6365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7" name="TextBox 16"/>
          <p:cNvSpPr txBox="1"/>
          <p:nvPr userDrawn="1"/>
        </p:nvSpPr>
        <p:spPr>
          <a:xfrm>
            <a:off x="731838" y="5962650"/>
            <a:ext cx="4224337" cy="52387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Gotham Light"/>
                <a:ea typeface="+mn-ea"/>
                <a:cs typeface="Gotham Light"/>
              </a:rPr>
              <a:t>Smart home and building solutions.</a:t>
            </a:r>
          </a:p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Gotham Light"/>
                <a:ea typeface="+mn-ea"/>
                <a:cs typeface="Gotham Light"/>
              </a:rPr>
              <a:t>Global. Secure. Connected.</a:t>
            </a:r>
          </a:p>
        </p:txBody>
      </p:sp>
    </p:spTree>
    <p:extLst>
      <p:ext uri="{BB962C8B-B14F-4D97-AF65-F5344CB8AC3E}">
        <p14:creationId xmlns:p14="http://schemas.microsoft.com/office/powerpoint/2010/main" val="452906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_tradnl"/>
              <a:t>Click to edit Master text styles</a:t>
            </a:r>
          </a:p>
          <a:p>
            <a:pPr lvl="1"/>
            <a:r>
              <a:rPr lang="es-ES_tradnl"/>
              <a:t>Second level</a:t>
            </a:r>
          </a:p>
          <a:p>
            <a:pPr lvl="2"/>
            <a:r>
              <a:rPr lang="es-ES_tradnl"/>
              <a:t>Third level</a:t>
            </a:r>
          </a:p>
          <a:p>
            <a:pPr lvl="3"/>
            <a:r>
              <a:rPr lang="es-ES_tradnl"/>
              <a:t>Fourth level</a:t>
            </a:r>
          </a:p>
          <a:p>
            <a:pPr lvl="4"/>
            <a:r>
              <a:rPr lang="es-ES_tradnl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F09DB7F-6F71-483E-9725-F109AADF7C74}" type="datetimeFigureOut">
              <a:rPr lang="en-US" altLang="en-US"/>
              <a:pPr>
                <a:defRPr/>
              </a:pPr>
              <a:t>10/22/2025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8F59234-8B31-4DBB-A812-7EDDF41E9C1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713787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521" y="274702"/>
            <a:ext cx="10971372" cy="11432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21917" tIns="60958" rIns="121917" bIns="6095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n-US"/>
              <a:t>Click to edit Master title style</a:t>
            </a:r>
            <a:endParaRPr lang="en-US" altLang="en-US"/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21" y="1600572"/>
            <a:ext cx="10971372" cy="45270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21917" tIns="60958" rIns="121917" bIns="6095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n-US"/>
              <a:t>Click to edit Master text styles</a:t>
            </a:r>
          </a:p>
          <a:p>
            <a:pPr lvl="1"/>
            <a:r>
              <a:rPr lang="es-ES_tradnl" altLang="en-US"/>
              <a:t>Second level</a:t>
            </a:r>
          </a:p>
          <a:p>
            <a:pPr lvl="2"/>
            <a:r>
              <a:rPr lang="es-ES_tradnl" altLang="en-US"/>
              <a:t>Third level</a:t>
            </a:r>
          </a:p>
          <a:p>
            <a:pPr lvl="3"/>
            <a:r>
              <a:rPr lang="es-ES_tradnl" altLang="en-US"/>
              <a:t>Fourth level</a:t>
            </a:r>
          </a:p>
          <a:p>
            <a:pPr lvl="4"/>
            <a:r>
              <a:rPr lang="es-ES_tradnl" altLang="en-US"/>
              <a:t>Fifth level</a:t>
            </a:r>
            <a:endParaRPr lang="en-US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21" y="6357822"/>
            <a:ext cx="2844430" cy="365210"/>
          </a:xfrm>
          <a:prstGeom prst="rect">
            <a:avLst/>
          </a:prstGeom>
        </p:spPr>
        <p:txBody>
          <a:bodyPr vert="horz" wrap="square" lIns="121917" tIns="60958" rIns="121917" bIns="60958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600" smtClean="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AAE10B03-8B23-4549-BCE4-742E89B81948}" type="datetimeFigureOut">
              <a:rPr lang="en-US" altLang="en-US"/>
              <a:pPr>
                <a:defRPr/>
              </a:pPr>
              <a:t>10/22/2025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058" y="6357822"/>
            <a:ext cx="3860297" cy="365210"/>
          </a:xfrm>
          <a:prstGeom prst="rect">
            <a:avLst/>
          </a:prstGeom>
        </p:spPr>
        <p:txBody>
          <a:bodyPr vert="horz" wrap="square" lIns="121917" tIns="60958" rIns="121917" bIns="60958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600">
                <a:solidFill>
                  <a:srgbClr val="898989"/>
                </a:solidFill>
                <a:latin typeface="Calibri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6463" y="6357822"/>
            <a:ext cx="2844430" cy="365210"/>
          </a:xfrm>
          <a:prstGeom prst="rect">
            <a:avLst/>
          </a:prstGeom>
        </p:spPr>
        <p:txBody>
          <a:bodyPr vert="horz" wrap="square" lIns="121917" tIns="60958" rIns="121917" bIns="60958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600" smtClean="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FA8B56AB-B65C-4AC4-9924-7EEE409DF63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</p:sldLayoutIdLst>
  <p:txStyles>
    <p:titleStyle>
      <a:lvl1pPr algn="ctr" defTabSz="609585" rtl="0" eaLnBrk="0" fontAlgn="base" hangingPunct="0">
        <a:spcBef>
          <a:spcPct val="0"/>
        </a:spcBef>
        <a:spcAft>
          <a:spcPct val="0"/>
        </a:spcAft>
        <a:defRPr sz="5900" kern="1200">
          <a:solidFill>
            <a:schemeClr val="tx1"/>
          </a:solidFill>
          <a:latin typeface="+mj-lt"/>
          <a:ea typeface="MS PGothic" panose="020B0600070205080204" pitchFamily="34" charset="-128"/>
          <a:cs typeface="MS PGothic" charset="0"/>
        </a:defRPr>
      </a:lvl1pPr>
      <a:lvl2pPr algn="ctr" defTabSz="609585" rtl="0" eaLnBrk="0" fontAlgn="base" hangingPunct="0">
        <a:spcBef>
          <a:spcPct val="0"/>
        </a:spcBef>
        <a:spcAft>
          <a:spcPct val="0"/>
        </a:spcAft>
        <a:defRPr sz="5900">
          <a:solidFill>
            <a:schemeClr val="tx1"/>
          </a:solidFill>
          <a:latin typeface="Calibri" panose="020F0502020204030204" pitchFamily="34" charset="0"/>
          <a:ea typeface="MS PGothic" panose="020B0600070205080204" pitchFamily="34" charset="-128"/>
          <a:cs typeface="MS PGothic" charset="0"/>
        </a:defRPr>
      </a:lvl2pPr>
      <a:lvl3pPr algn="ctr" defTabSz="609585" rtl="0" eaLnBrk="0" fontAlgn="base" hangingPunct="0">
        <a:spcBef>
          <a:spcPct val="0"/>
        </a:spcBef>
        <a:spcAft>
          <a:spcPct val="0"/>
        </a:spcAft>
        <a:defRPr sz="5900">
          <a:solidFill>
            <a:schemeClr val="tx1"/>
          </a:solidFill>
          <a:latin typeface="Calibri" panose="020F0502020204030204" pitchFamily="34" charset="0"/>
          <a:ea typeface="MS PGothic" panose="020B0600070205080204" pitchFamily="34" charset="-128"/>
          <a:cs typeface="MS PGothic" charset="0"/>
        </a:defRPr>
      </a:lvl3pPr>
      <a:lvl4pPr algn="ctr" defTabSz="609585" rtl="0" eaLnBrk="0" fontAlgn="base" hangingPunct="0">
        <a:spcBef>
          <a:spcPct val="0"/>
        </a:spcBef>
        <a:spcAft>
          <a:spcPct val="0"/>
        </a:spcAft>
        <a:defRPr sz="5900">
          <a:solidFill>
            <a:schemeClr val="tx1"/>
          </a:solidFill>
          <a:latin typeface="Calibri" panose="020F0502020204030204" pitchFamily="34" charset="0"/>
          <a:ea typeface="MS PGothic" panose="020B0600070205080204" pitchFamily="34" charset="-128"/>
          <a:cs typeface="MS PGothic" charset="0"/>
        </a:defRPr>
      </a:lvl4pPr>
      <a:lvl5pPr algn="ctr" defTabSz="609585" rtl="0" eaLnBrk="0" fontAlgn="base" hangingPunct="0">
        <a:spcBef>
          <a:spcPct val="0"/>
        </a:spcBef>
        <a:spcAft>
          <a:spcPct val="0"/>
        </a:spcAft>
        <a:defRPr sz="5900">
          <a:solidFill>
            <a:schemeClr val="tx1"/>
          </a:solidFill>
          <a:latin typeface="Calibri" panose="020F0502020204030204" pitchFamily="34" charset="0"/>
          <a:ea typeface="MS PGothic" panose="020B0600070205080204" pitchFamily="34" charset="-128"/>
          <a:cs typeface="MS PGothic" charset="0"/>
        </a:defRPr>
      </a:lvl5pPr>
      <a:lvl6pPr marL="609585" algn="ctr" defTabSz="609585" rtl="0" fontAlgn="base">
        <a:spcBef>
          <a:spcPct val="0"/>
        </a:spcBef>
        <a:spcAft>
          <a:spcPct val="0"/>
        </a:spcAft>
        <a:defRPr sz="5900">
          <a:solidFill>
            <a:schemeClr val="tx1"/>
          </a:solidFill>
          <a:latin typeface="Calibri" panose="020F0502020204030204" pitchFamily="34" charset="0"/>
          <a:ea typeface="MS PGothic" panose="020B0600070205080204" pitchFamily="34" charset="-128"/>
        </a:defRPr>
      </a:lvl6pPr>
      <a:lvl7pPr marL="1219170" algn="ctr" defTabSz="609585" rtl="0" fontAlgn="base">
        <a:spcBef>
          <a:spcPct val="0"/>
        </a:spcBef>
        <a:spcAft>
          <a:spcPct val="0"/>
        </a:spcAft>
        <a:defRPr sz="5900">
          <a:solidFill>
            <a:schemeClr val="tx1"/>
          </a:solidFill>
          <a:latin typeface="Calibri" panose="020F0502020204030204" pitchFamily="34" charset="0"/>
          <a:ea typeface="MS PGothic" panose="020B0600070205080204" pitchFamily="34" charset="-128"/>
        </a:defRPr>
      </a:lvl7pPr>
      <a:lvl8pPr marL="1828754" algn="ctr" defTabSz="609585" rtl="0" fontAlgn="base">
        <a:spcBef>
          <a:spcPct val="0"/>
        </a:spcBef>
        <a:spcAft>
          <a:spcPct val="0"/>
        </a:spcAft>
        <a:defRPr sz="5900">
          <a:solidFill>
            <a:schemeClr val="tx1"/>
          </a:solidFill>
          <a:latin typeface="Calibri" panose="020F0502020204030204" pitchFamily="34" charset="0"/>
          <a:ea typeface="MS PGothic" panose="020B0600070205080204" pitchFamily="34" charset="-128"/>
        </a:defRPr>
      </a:lvl8pPr>
      <a:lvl9pPr marL="2438339" algn="ctr" defTabSz="609585" rtl="0" fontAlgn="base">
        <a:spcBef>
          <a:spcPct val="0"/>
        </a:spcBef>
        <a:spcAft>
          <a:spcPct val="0"/>
        </a:spcAft>
        <a:defRPr sz="5900">
          <a:solidFill>
            <a:schemeClr val="tx1"/>
          </a:solidFill>
          <a:latin typeface="Calibri" panose="020F0502020204030204" pitchFamily="34" charset="0"/>
          <a:ea typeface="MS PGothic" panose="020B0600070205080204" pitchFamily="34" charset="-128"/>
        </a:defRPr>
      </a:lvl9pPr>
    </p:titleStyle>
    <p:bodyStyle>
      <a:lvl1pPr marL="457189" indent="-457189" algn="l" defTabSz="609585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300" kern="1200">
          <a:solidFill>
            <a:schemeClr val="tx1"/>
          </a:solidFill>
          <a:latin typeface="+mn-lt"/>
          <a:ea typeface="MS PGothic" panose="020B0600070205080204" pitchFamily="34" charset="-128"/>
          <a:cs typeface="MS PGothic" charset="0"/>
        </a:defRPr>
      </a:lvl1pPr>
      <a:lvl2pPr marL="990575" indent="-380990" algn="l" defTabSz="609585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700" kern="1200">
          <a:solidFill>
            <a:schemeClr val="tx1"/>
          </a:solidFill>
          <a:latin typeface="+mn-lt"/>
          <a:ea typeface="MS PGothic" panose="020B0600070205080204" pitchFamily="34" charset="-128"/>
          <a:cs typeface="MS PGothic" charset="0"/>
        </a:defRPr>
      </a:lvl2pPr>
      <a:lvl3pPr marL="1523962" indent="-304792" algn="l" defTabSz="609585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MS PGothic" panose="020B0600070205080204" pitchFamily="34" charset="-128"/>
          <a:cs typeface="MS PGothic" charset="0"/>
        </a:defRPr>
      </a:lvl3pPr>
      <a:lvl4pPr marL="2133547" indent="-304792" algn="l" defTabSz="609585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700" kern="1200">
          <a:solidFill>
            <a:schemeClr val="tx1"/>
          </a:solidFill>
          <a:latin typeface="+mn-lt"/>
          <a:ea typeface="MS PGothic" panose="020B0600070205080204" pitchFamily="34" charset="-128"/>
          <a:cs typeface="MS PGothic" charset="0"/>
        </a:defRPr>
      </a:lvl4pPr>
      <a:lvl5pPr marL="2743131" indent="-304792" algn="l" defTabSz="609585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700" kern="1200">
          <a:solidFill>
            <a:schemeClr val="tx1"/>
          </a:solidFill>
          <a:latin typeface="+mn-lt"/>
          <a:ea typeface="MS PGothic" panose="020B0600070205080204" pitchFamily="34" charset="-128"/>
          <a:cs typeface="MS PGothic" charset="0"/>
        </a:defRPr>
      </a:lvl5pPr>
      <a:lvl6pPr marL="3352716" indent="-304792" algn="l" defTabSz="609585" rtl="0" eaLnBrk="1" latinLnBrk="0" hangingPunct="1">
        <a:spcBef>
          <a:spcPct val="20000"/>
        </a:spcBef>
        <a:buFont typeface="Arial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609585" rtl="0" eaLnBrk="1" latinLnBrk="0" hangingPunct="1">
        <a:spcBef>
          <a:spcPct val="20000"/>
        </a:spcBef>
        <a:buFont typeface="Arial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609585" rtl="0" eaLnBrk="1" latinLnBrk="0" hangingPunct="1">
        <a:spcBef>
          <a:spcPct val="20000"/>
        </a:spcBef>
        <a:buFont typeface="Arial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609585" rtl="0" eaLnBrk="1" latinLnBrk="0" hangingPunct="1">
        <a:spcBef>
          <a:spcPct val="20000"/>
        </a:spcBef>
        <a:buFont typeface="Arial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7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361861" y="4661534"/>
            <a:ext cx="3442840" cy="1734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5" name="Picture 3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39679" y="280604"/>
            <a:ext cx="1465072" cy="6365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7"/>
          <p:cNvSpPr txBox="1"/>
          <p:nvPr/>
        </p:nvSpPr>
        <p:spPr>
          <a:xfrm>
            <a:off x="630156" y="1021871"/>
            <a:ext cx="4223787" cy="522219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Light"/>
                <a:ea typeface="+mn-ea"/>
                <a:cs typeface="Gotham Light"/>
              </a:rPr>
              <a:t>Smart home and building solutions.</a:t>
            </a:r>
          </a:p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Light"/>
                <a:ea typeface="+mn-ea"/>
                <a:cs typeface="Gotham Light"/>
              </a:rPr>
              <a:t>Global. Secure. Connected.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011" y="2310753"/>
            <a:ext cx="839047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December 1st – </a:t>
            </a:r>
            <a:r>
              <a:rPr lang="en-US" sz="2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OpenLine</a:t>
            </a:r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: EMS</a:t>
            </a:r>
          </a:p>
        </p:txBody>
      </p:sp>
    </p:spTree>
    <p:extLst>
      <p:ext uri="{BB962C8B-B14F-4D97-AF65-F5344CB8AC3E}">
        <p14:creationId xmlns:p14="http://schemas.microsoft.com/office/powerpoint/2010/main" val="39538283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11366-A7D4-B1E9-2D6C-B64B62CE7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3">
            <a:extLst>
              <a:ext uri="{FF2B5EF4-FFF2-40B4-BE49-F238E27FC236}">
                <a16:creationId xmlns:a16="http://schemas.microsoft.com/office/drawing/2014/main" id="{13F73801-6889-04A4-0CE1-7E5CB4354375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6188" y="440922"/>
            <a:ext cx="1104756" cy="479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Rectángulo 17">
            <a:extLst>
              <a:ext uri="{FF2B5EF4-FFF2-40B4-BE49-F238E27FC236}">
                <a16:creationId xmlns:a16="http://schemas.microsoft.com/office/drawing/2014/main" id="{3D39883E-CBC7-5638-1559-74133FC7C7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6309145"/>
            <a:ext cx="12190413" cy="549203"/>
          </a:xfrm>
          <a:prstGeom prst="rect">
            <a:avLst/>
          </a:prstGeom>
          <a:solidFill>
            <a:srgbClr val="262626"/>
          </a:solidFill>
          <a:ln w="9525">
            <a:solidFill>
              <a:srgbClr val="4A7EBB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8"/>
              </a:srgbClr>
            </a:outerShdw>
          </a:effectLst>
        </p:spPr>
        <p:txBody>
          <a:bodyPr anchor="ctr"/>
          <a:lstStyle>
            <a:lvl1pPr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>
              <a:defRPr/>
            </a:pPr>
            <a:endParaRPr lang="es-ES" altLang="en-US" sz="1800">
              <a:solidFill>
                <a:srgbClr val="FFFFFF"/>
              </a:solidFill>
            </a:endParaRPr>
          </a:p>
        </p:txBody>
      </p:sp>
      <p:sp>
        <p:nvSpPr>
          <p:cNvPr id="13" name="TextBox 7">
            <a:extLst>
              <a:ext uri="{FF2B5EF4-FFF2-40B4-BE49-F238E27FC236}">
                <a16:creationId xmlns:a16="http://schemas.microsoft.com/office/drawing/2014/main" id="{5F452D74-1D32-79A5-CE7F-F6813CE175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3174" y="6391684"/>
            <a:ext cx="2676176" cy="415871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Smart home and building solutions.</a:t>
            </a:r>
          </a:p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Global. Secure. Connected.</a:t>
            </a:r>
          </a:p>
        </p:txBody>
      </p:sp>
      <p:pic>
        <p:nvPicPr>
          <p:cNvPr id="4101" name="Imagen 21" descr="Worldmap.jpg">
            <a:extLst>
              <a:ext uri="{FF2B5EF4-FFF2-40B4-BE49-F238E27FC236}">
                <a16:creationId xmlns:a16="http://schemas.microsoft.com/office/drawing/2014/main" id="{BDB1ADA1-4484-FFF9-0B3F-DBD1829F8C8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926927" y="6340890"/>
            <a:ext cx="1149200" cy="488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02" name="TextBox 11">
            <a:extLst>
              <a:ext uri="{FF2B5EF4-FFF2-40B4-BE49-F238E27FC236}">
                <a16:creationId xmlns:a16="http://schemas.microsoft.com/office/drawing/2014/main" id="{82C1B276-77B3-8B74-3EBE-44B4E91D9C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66608" y="6340890"/>
            <a:ext cx="861900" cy="4619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chemeClr val="bg1"/>
                </a:solidFill>
                <a:latin typeface="Gotham Light" pitchFamily="50" charset="0"/>
              </a:rPr>
              <a:t>Join </a:t>
            </a:r>
            <a:r>
              <a:rPr lang="en-US" altLang="en-US" sz="1500">
                <a:solidFill>
                  <a:schemeClr val="bg1"/>
                </a:solidFill>
                <a:latin typeface="Gotham Medium" charset="0"/>
              </a:rPr>
              <a:t>us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800">
                <a:solidFill>
                  <a:schemeClr val="bg1"/>
                </a:solidFill>
                <a:latin typeface="Gotham Light" pitchFamily="50" charset="0"/>
              </a:rPr>
              <a:t>www.knx.org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352D0D-A908-6570-16BD-F041ADFBF0F6}"/>
              </a:ext>
            </a:extLst>
          </p:cNvPr>
          <p:cNvSpPr txBox="1"/>
          <p:nvPr/>
        </p:nvSpPr>
        <p:spPr>
          <a:xfrm>
            <a:off x="476188" y="1662585"/>
            <a:ext cx="5533752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EMS: Energy Management System</a:t>
            </a:r>
          </a:p>
          <a:p>
            <a:pPr algn="l"/>
            <a:endParaRPr lang="en-US" sz="2000" b="1" dirty="0">
              <a:solidFill>
                <a:schemeClr val="tx1">
                  <a:lumMod val="75000"/>
                  <a:lumOff val="25000"/>
                </a:schemeClr>
              </a:solidFill>
              <a:latin typeface="Gotham Medium"/>
              <a:cs typeface="Gotham Medium"/>
            </a:endParaRPr>
          </a:p>
          <a:p>
            <a:pPr algn="l"/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This is about when to charge the EV.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  <a:latin typeface="Gotham Medium"/>
              <a:cs typeface="Gotham Medium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Either ‘Sun Mode’: take into account present renewable energy; I only need the EV some time later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  <a:latin typeface="Gotham Medium"/>
              <a:cs typeface="Gotham Medium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Or ‘Mix Mode’: don’t care about present renewable energy; I need the EV anytime soon</a:t>
            </a:r>
          </a:p>
        </p:txBody>
      </p:sp>
      <p:pic>
        <p:nvPicPr>
          <p:cNvPr id="3" name="Picture 2" descr="A diagram of a solar panel and mix mode&#10;&#10;AI-generated content may be incorrect.">
            <a:extLst>
              <a:ext uri="{FF2B5EF4-FFF2-40B4-BE49-F238E27FC236}">
                <a16:creationId xmlns:a16="http://schemas.microsoft.com/office/drawing/2014/main" id="{DE2C29E2-F85D-EC81-0FE9-E65661BF13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0896" y="1500878"/>
            <a:ext cx="4700010" cy="4308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06603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3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6188" y="440922"/>
            <a:ext cx="1104756" cy="479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Rectángulo 17"/>
          <p:cNvSpPr>
            <a:spLocks noChangeArrowheads="1"/>
          </p:cNvSpPr>
          <p:nvPr/>
        </p:nvSpPr>
        <p:spPr bwMode="auto">
          <a:xfrm>
            <a:off x="-1" y="6309145"/>
            <a:ext cx="12190413" cy="549203"/>
          </a:xfrm>
          <a:prstGeom prst="rect">
            <a:avLst/>
          </a:prstGeom>
          <a:solidFill>
            <a:srgbClr val="262626"/>
          </a:solidFill>
          <a:ln w="9525">
            <a:solidFill>
              <a:srgbClr val="4A7EBB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8"/>
              </a:srgbClr>
            </a:outerShdw>
          </a:effectLst>
        </p:spPr>
        <p:txBody>
          <a:bodyPr anchor="ctr"/>
          <a:lstStyle>
            <a:lvl1pPr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>
              <a:defRPr/>
            </a:pPr>
            <a:endParaRPr lang="es-ES" altLang="en-US" sz="1800">
              <a:solidFill>
                <a:srgbClr val="FFFFFF"/>
              </a:solidFill>
            </a:endParaRPr>
          </a:p>
        </p:txBody>
      </p:sp>
      <p:sp>
        <p:nvSpPr>
          <p:cNvPr id="13" name="TextBox 7"/>
          <p:cNvSpPr txBox="1">
            <a:spLocks noChangeArrowheads="1"/>
          </p:cNvSpPr>
          <p:nvPr/>
        </p:nvSpPr>
        <p:spPr bwMode="auto">
          <a:xfrm>
            <a:off x="203174" y="6391684"/>
            <a:ext cx="2676176" cy="415871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Smart home and building solutions.</a:t>
            </a:r>
          </a:p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Global. Secure. Connected.</a:t>
            </a:r>
          </a:p>
        </p:txBody>
      </p:sp>
      <p:pic>
        <p:nvPicPr>
          <p:cNvPr id="4101" name="Imagen 21" descr="Worldmap.jpg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926927" y="6340890"/>
            <a:ext cx="1149200" cy="488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02" name="TextBox 11"/>
          <p:cNvSpPr txBox="1">
            <a:spLocks noChangeArrowheads="1"/>
          </p:cNvSpPr>
          <p:nvPr/>
        </p:nvSpPr>
        <p:spPr bwMode="auto">
          <a:xfrm>
            <a:off x="11166608" y="6340890"/>
            <a:ext cx="861900" cy="4619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chemeClr val="bg1"/>
                </a:solidFill>
                <a:latin typeface="Gotham Light" pitchFamily="50" charset="0"/>
              </a:rPr>
              <a:t>Join </a:t>
            </a:r>
            <a:r>
              <a:rPr lang="en-US" altLang="en-US" sz="1500">
                <a:solidFill>
                  <a:schemeClr val="bg1"/>
                </a:solidFill>
                <a:latin typeface="Gotham Medium" charset="0"/>
              </a:rPr>
              <a:t>us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800">
                <a:solidFill>
                  <a:schemeClr val="bg1"/>
                </a:solidFill>
                <a:latin typeface="Gotham Light" pitchFamily="50" charset="0"/>
              </a:rPr>
              <a:t>www.knx.org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473" y="1296825"/>
            <a:ext cx="842007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EMS: details</a:t>
            </a:r>
            <a:endParaRPr lang="en-US" sz="2500" dirty="0">
              <a:solidFill>
                <a:schemeClr val="tx1">
                  <a:lumMod val="75000"/>
                  <a:lumOff val="25000"/>
                </a:schemeClr>
              </a:solidFill>
              <a:latin typeface="Gotham Medium"/>
              <a:cs typeface="Gotham Medium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87298" y="2004939"/>
            <a:ext cx="1082283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Demonstration applications for;</a:t>
            </a:r>
          </a:p>
          <a:p>
            <a:pPr marL="895335" lvl="1" indent="-285750">
              <a:buFontTx/>
              <a:buChar char="-"/>
            </a:pPr>
            <a:r>
              <a:rPr lang="en-US" dirty="0"/>
              <a:t>Photovoltaic Invertor: ‘PV’</a:t>
            </a:r>
          </a:p>
          <a:p>
            <a:pPr marL="895335" lvl="1" indent="-285750">
              <a:buFontTx/>
              <a:buChar char="-"/>
            </a:pPr>
            <a:r>
              <a:rPr lang="en-US" dirty="0"/>
              <a:t>Central Energy Manager: ‘CEM’</a:t>
            </a:r>
          </a:p>
          <a:p>
            <a:pPr marL="895335" lvl="1" indent="-285750">
              <a:buFontTx/>
              <a:buChar char="-"/>
            </a:pPr>
            <a:r>
              <a:rPr lang="en-US" dirty="0"/>
              <a:t>Electric Vehicle Charger: ‘EV Charger’</a:t>
            </a:r>
          </a:p>
          <a:p>
            <a:pPr marL="895335" lvl="1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Environment/platform:</a:t>
            </a:r>
          </a:p>
          <a:p>
            <a:pPr marL="895335" lvl="1" indent="-285750">
              <a:buFontTx/>
              <a:buChar char="-"/>
            </a:pPr>
            <a:r>
              <a:rPr lang="en-US" dirty="0"/>
              <a:t>For this very presentation: Windows</a:t>
            </a:r>
          </a:p>
          <a:p>
            <a:pPr marL="895335" lvl="1" indent="-285750">
              <a:buFontTx/>
              <a:buChar char="-"/>
            </a:pPr>
            <a:r>
              <a:rPr lang="en-US" dirty="0"/>
              <a:t>Also foreseen: Linux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Illustrate the capabilities of </a:t>
            </a:r>
            <a:r>
              <a:rPr lang="en-US" b="1" dirty="0"/>
              <a:t>KNX IoT technology </a:t>
            </a:r>
            <a:r>
              <a:rPr lang="en-US" dirty="0"/>
              <a:t>in managing:</a:t>
            </a:r>
          </a:p>
          <a:p>
            <a:pPr marL="895335" lvl="1" indent="-285750">
              <a:buFontTx/>
              <a:buChar char="-"/>
            </a:pPr>
            <a:r>
              <a:rPr lang="en-US" dirty="0"/>
              <a:t>renewable energy</a:t>
            </a:r>
          </a:p>
          <a:p>
            <a:pPr marL="895335" lvl="1" indent="-285750">
              <a:buFontTx/>
              <a:buChar char="-"/>
            </a:pPr>
            <a:r>
              <a:rPr lang="en-US" dirty="0"/>
              <a:t>charging infrastructure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24690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90901-5374-48F5-7476-A35DE6A0F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3">
            <a:extLst>
              <a:ext uri="{FF2B5EF4-FFF2-40B4-BE49-F238E27FC236}">
                <a16:creationId xmlns:a16="http://schemas.microsoft.com/office/drawing/2014/main" id="{827CC31B-AF24-90B3-715B-CEF8BABECDC9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6188" y="440922"/>
            <a:ext cx="1104756" cy="479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Rectángulo 17">
            <a:extLst>
              <a:ext uri="{FF2B5EF4-FFF2-40B4-BE49-F238E27FC236}">
                <a16:creationId xmlns:a16="http://schemas.microsoft.com/office/drawing/2014/main" id="{6538D055-F652-8D0C-ED6A-3A2B4FE7E4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6309145"/>
            <a:ext cx="12190413" cy="549203"/>
          </a:xfrm>
          <a:prstGeom prst="rect">
            <a:avLst/>
          </a:prstGeom>
          <a:solidFill>
            <a:srgbClr val="262626"/>
          </a:solidFill>
          <a:ln w="9525">
            <a:solidFill>
              <a:srgbClr val="4A7EBB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8"/>
              </a:srgbClr>
            </a:outerShdw>
          </a:effectLst>
        </p:spPr>
        <p:txBody>
          <a:bodyPr anchor="ctr"/>
          <a:lstStyle>
            <a:lvl1pPr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>
              <a:defRPr/>
            </a:pPr>
            <a:endParaRPr lang="es-ES" altLang="en-US" sz="1800">
              <a:solidFill>
                <a:srgbClr val="FFFFFF"/>
              </a:solidFill>
            </a:endParaRPr>
          </a:p>
        </p:txBody>
      </p:sp>
      <p:sp>
        <p:nvSpPr>
          <p:cNvPr id="13" name="TextBox 7">
            <a:extLst>
              <a:ext uri="{FF2B5EF4-FFF2-40B4-BE49-F238E27FC236}">
                <a16:creationId xmlns:a16="http://schemas.microsoft.com/office/drawing/2014/main" id="{695648FC-491B-94BD-2342-D72B1D3172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3174" y="6391684"/>
            <a:ext cx="2676176" cy="415871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Smart home and building solutions.</a:t>
            </a:r>
          </a:p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Global. Secure. Connected.</a:t>
            </a:r>
          </a:p>
        </p:txBody>
      </p:sp>
      <p:pic>
        <p:nvPicPr>
          <p:cNvPr id="4101" name="Imagen 21" descr="Worldmap.jpg">
            <a:extLst>
              <a:ext uri="{FF2B5EF4-FFF2-40B4-BE49-F238E27FC236}">
                <a16:creationId xmlns:a16="http://schemas.microsoft.com/office/drawing/2014/main" id="{EEB048D9-2A5E-0667-3BB9-7F7643904AD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926927" y="6340890"/>
            <a:ext cx="1149200" cy="488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02" name="TextBox 11">
            <a:extLst>
              <a:ext uri="{FF2B5EF4-FFF2-40B4-BE49-F238E27FC236}">
                <a16:creationId xmlns:a16="http://schemas.microsoft.com/office/drawing/2014/main" id="{99B02CAD-52CA-393A-965A-19038502F9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66608" y="6340890"/>
            <a:ext cx="861900" cy="4619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chemeClr val="bg1"/>
                </a:solidFill>
                <a:latin typeface="Gotham Light" pitchFamily="50" charset="0"/>
              </a:rPr>
              <a:t>Join </a:t>
            </a:r>
            <a:r>
              <a:rPr lang="en-US" altLang="en-US" sz="1500">
                <a:solidFill>
                  <a:schemeClr val="bg1"/>
                </a:solidFill>
                <a:latin typeface="Gotham Medium" charset="0"/>
              </a:rPr>
              <a:t>us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800">
                <a:solidFill>
                  <a:schemeClr val="bg1"/>
                </a:solidFill>
                <a:latin typeface="Gotham Light" pitchFamily="50" charset="0"/>
              </a:rPr>
              <a:t>www.knx.org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674AD0-A4ED-8D0D-8149-D13A7BBB7B0B}"/>
              </a:ext>
            </a:extLst>
          </p:cNvPr>
          <p:cNvSpPr txBox="1"/>
          <p:nvPr/>
        </p:nvSpPr>
        <p:spPr>
          <a:xfrm>
            <a:off x="690473" y="1296825"/>
            <a:ext cx="842007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Demonstration applications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126320D-F2E9-25CA-8969-176BD2AF0AB9}"/>
              </a:ext>
            </a:extLst>
          </p:cNvPr>
          <p:cNvSpPr txBox="1"/>
          <p:nvPr/>
        </p:nvSpPr>
        <p:spPr>
          <a:xfrm>
            <a:off x="687298" y="2004939"/>
            <a:ext cx="1082283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Concept: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2097AE6-BD5C-5EA0-2EF0-E9B43F2FE605}"/>
              </a:ext>
            </a:extLst>
          </p:cNvPr>
          <p:cNvSpPr/>
          <p:nvPr/>
        </p:nvSpPr>
        <p:spPr>
          <a:xfrm>
            <a:off x="1747952" y="3390162"/>
            <a:ext cx="1335783" cy="66089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PV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BB0823A-CA62-D23D-2192-7922960A2115}"/>
              </a:ext>
            </a:extLst>
          </p:cNvPr>
          <p:cNvSpPr/>
          <p:nvPr/>
        </p:nvSpPr>
        <p:spPr>
          <a:xfrm>
            <a:off x="3703927" y="3390162"/>
            <a:ext cx="1335783" cy="66089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CEM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FF3A46A-F61F-224B-BCFB-A9EAB67535A0}"/>
              </a:ext>
            </a:extLst>
          </p:cNvPr>
          <p:cNvSpPr/>
          <p:nvPr/>
        </p:nvSpPr>
        <p:spPr>
          <a:xfrm>
            <a:off x="5659902" y="3390162"/>
            <a:ext cx="1335783" cy="66089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Charger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1AC3830-B813-A3B6-E0DA-C1A1237C8EEB}"/>
              </a:ext>
            </a:extLst>
          </p:cNvPr>
          <p:cNvCxnSpPr>
            <a:stCxn id="10" idx="3"/>
            <a:endCxn id="12" idx="1"/>
          </p:cNvCxnSpPr>
          <p:nvPr/>
        </p:nvCxnSpPr>
        <p:spPr>
          <a:xfrm>
            <a:off x="3083735" y="3720609"/>
            <a:ext cx="6201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E0810A1-AD7D-8D95-3381-31A0DB69439E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5039710" y="3720609"/>
            <a:ext cx="6201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35104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5FE4D3-B17B-4BD0-15C0-904848F0C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3">
            <a:extLst>
              <a:ext uri="{FF2B5EF4-FFF2-40B4-BE49-F238E27FC236}">
                <a16:creationId xmlns:a16="http://schemas.microsoft.com/office/drawing/2014/main" id="{4344DDF7-1070-15A4-4230-68241BF707E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6188" y="440922"/>
            <a:ext cx="1104756" cy="479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Rectángulo 17">
            <a:extLst>
              <a:ext uri="{FF2B5EF4-FFF2-40B4-BE49-F238E27FC236}">
                <a16:creationId xmlns:a16="http://schemas.microsoft.com/office/drawing/2014/main" id="{3375DA47-16FB-EE3A-17F9-EBD13B6C30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6309145"/>
            <a:ext cx="12190413" cy="549203"/>
          </a:xfrm>
          <a:prstGeom prst="rect">
            <a:avLst/>
          </a:prstGeom>
          <a:solidFill>
            <a:srgbClr val="262626"/>
          </a:solidFill>
          <a:ln w="9525">
            <a:solidFill>
              <a:srgbClr val="4A7EBB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8"/>
              </a:srgbClr>
            </a:outerShdw>
          </a:effectLst>
        </p:spPr>
        <p:txBody>
          <a:bodyPr anchor="ctr"/>
          <a:lstStyle>
            <a:lvl1pPr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>
              <a:defRPr/>
            </a:pPr>
            <a:endParaRPr lang="es-ES" altLang="en-US" sz="1800">
              <a:solidFill>
                <a:srgbClr val="FFFFFF"/>
              </a:solidFill>
            </a:endParaRPr>
          </a:p>
        </p:txBody>
      </p:sp>
      <p:sp>
        <p:nvSpPr>
          <p:cNvPr id="13" name="TextBox 7">
            <a:extLst>
              <a:ext uri="{FF2B5EF4-FFF2-40B4-BE49-F238E27FC236}">
                <a16:creationId xmlns:a16="http://schemas.microsoft.com/office/drawing/2014/main" id="{717B995C-42FA-3748-9398-5EA74CB21B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3174" y="6391684"/>
            <a:ext cx="2676176" cy="415871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Smart home and building solutions.</a:t>
            </a:r>
          </a:p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Global. Secure. Connected.</a:t>
            </a:r>
          </a:p>
        </p:txBody>
      </p:sp>
      <p:pic>
        <p:nvPicPr>
          <p:cNvPr id="4101" name="Imagen 21" descr="Worldmap.jpg">
            <a:extLst>
              <a:ext uri="{FF2B5EF4-FFF2-40B4-BE49-F238E27FC236}">
                <a16:creationId xmlns:a16="http://schemas.microsoft.com/office/drawing/2014/main" id="{3EDEFF8F-3FD1-6293-8AD8-916E0127BA1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926927" y="6340890"/>
            <a:ext cx="1149200" cy="488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02" name="TextBox 11">
            <a:extLst>
              <a:ext uri="{FF2B5EF4-FFF2-40B4-BE49-F238E27FC236}">
                <a16:creationId xmlns:a16="http://schemas.microsoft.com/office/drawing/2014/main" id="{2A0228F7-5BF9-A606-2461-76994ECAAB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66608" y="6340890"/>
            <a:ext cx="861900" cy="4619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chemeClr val="bg1"/>
                </a:solidFill>
                <a:latin typeface="Gotham Light" pitchFamily="50" charset="0"/>
              </a:rPr>
              <a:t>Join </a:t>
            </a:r>
            <a:r>
              <a:rPr lang="en-US" altLang="en-US" sz="1500">
                <a:solidFill>
                  <a:schemeClr val="bg1"/>
                </a:solidFill>
                <a:latin typeface="Gotham Medium" charset="0"/>
              </a:rPr>
              <a:t>us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800">
                <a:solidFill>
                  <a:schemeClr val="bg1"/>
                </a:solidFill>
                <a:latin typeface="Gotham Light" pitchFamily="50" charset="0"/>
              </a:rPr>
              <a:t>www.knx.org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929FF7A-469D-E3EA-289C-34454CC900C7}"/>
              </a:ext>
            </a:extLst>
          </p:cNvPr>
          <p:cNvSpPr txBox="1"/>
          <p:nvPr/>
        </p:nvSpPr>
        <p:spPr>
          <a:xfrm>
            <a:off x="690473" y="1296825"/>
            <a:ext cx="842007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Demonstration applications: Architectural options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08A36EC-FEAD-584A-9CBC-FFBFA9FC9916}"/>
              </a:ext>
            </a:extLst>
          </p:cNvPr>
          <p:cNvSpPr txBox="1"/>
          <p:nvPr/>
        </p:nvSpPr>
        <p:spPr>
          <a:xfrm>
            <a:off x="687298" y="2004939"/>
            <a:ext cx="108228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Base: 3 apps</a:t>
            </a:r>
          </a:p>
          <a:p>
            <a:pPr marL="285750" indent="-285750">
              <a:buFontTx/>
              <a:buChar char="-"/>
            </a:pPr>
            <a:r>
              <a:rPr lang="en-US" dirty="0"/>
              <a:t>Several combinations possible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E331368-94C5-7FEA-BF0C-0976B842BE83}"/>
              </a:ext>
            </a:extLst>
          </p:cNvPr>
          <p:cNvSpPr/>
          <p:nvPr/>
        </p:nvSpPr>
        <p:spPr>
          <a:xfrm>
            <a:off x="2164161" y="3429794"/>
            <a:ext cx="1335783" cy="66089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PV +</a:t>
            </a:r>
          </a:p>
          <a:p>
            <a:pPr algn="ctr"/>
            <a:r>
              <a:rPr lang="en-US" dirty="0"/>
              <a:t>CEM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F58D7F-80F1-D86D-5B6E-8291F2D60F7F}"/>
              </a:ext>
            </a:extLst>
          </p:cNvPr>
          <p:cNvSpPr/>
          <p:nvPr/>
        </p:nvSpPr>
        <p:spPr>
          <a:xfrm>
            <a:off x="4524784" y="3429793"/>
            <a:ext cx="1335783" cy="66089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Charger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553DD24-3CA8-5D96-3ED8-21845AF45099}"/>
              </a:ext>
            </a:extLst>
          </p:cNvPr>
          <p:cNvCxnSpPr>
            <a:cxnSpLocks/>
            <a:stCxn id="10" idx="3"/>
            <a:endCxn id="14" idx="1"/>
          </p:cNvCxnSpPr>
          <p:nvPr/>
        </p:nvCxnSpPr>
        <p:spPr>
          <a:xfrm flipV="1">
            <a:off x="3499944" y="3760240"/>
            <a:ext cx="102484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9967AD2E-C0A7-4F73-11DF-EAF1229CBBC2}"/>
              </a:ext>
            </a:extLst>
          </p:cNvPr>
          <p:cNvSpPr/>
          <p:nvPr/>
        </p:nvSpPr>
        <p:spPr>
          <a:xfrm>
            <a:off x="2164161" y="4421134"/>
            <a:ext cx="1335783" cy="66089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PV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038054-190F-D882-7FF1-ACBD6D9F7836}"/>
              </a:ext>
            </a:extLst>
          </p:cNvPr>
          <p:cNvSpPr/>
          <p:nvPr/>
        </p:nvSpPr>
        <p:spPr>
          <a:xfrm>
            <a:off x="4524784" y="4421133"/>
            <a:ext cx="1335783" cy="66089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CEM +</a:t>
            </a:r>
          </a:p>
          <a:p>
            <a:pPr algn="ctr"/>
            <a:r>
              <a:rPr lang="en-US" dirty="0"/>
              <a:t>Charger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2B378A8-B7C1-65C7-45E0-D2FF93A591E2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3499944" y="4751580"/>
            <a:ext cx="102484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25832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FA617-1958-A092-803F-1E15DFF54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3">
            <a:extLst>
              <a:ext uri="{FF2B5EF4-FFF2-40B4-BE49-F238E27FC236}">
                <a16:creationId xmlns:a16="http://schemas.microsoft.com/office/drawing/2014/main" id="{7DCACE2E-79BF-37D6-30AD-44D250DAD06C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6188" y="440922"/>
            <a:ext cx="1104756" cy="479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Rectángulo 17">
            <a:extLst>
              <a:ext uri="{FF2B5EF4-FFF2-40B4-BE49-F238E27FC236}">
                <a16:creationId xmlns:a16="http://schemas.microsoft.com/office/drawing/2014/main" id="{0EE4A938-D406-CD6B-1224-8374AA1E7C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6309145"/>
            <a:ext cx="12190413" cy="549203"/>
          </a:xfrm>
          <a:prstGeom prst="rect">
            <a:avLst/>
          </a:prstGeom>
          <a:solidFill>
            <a:srgbClr val="262626"/>
          </a:solidFill>
          <a:ln w="9525">
            <a:solidFill>
              <a:srgbClr val="4A7EBB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8"/>
              </a:srgbClr>
            </a:outerShdw>
          </a:effectLst>
        </p:spPr>
        <p:txBody>
          <a:bodyPr anchor="ctr"/>
          <a:lstStyle>
            <a:lvl1pPr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>
              <a:defRPr/>
            </a:pPr>
            <a:endParaRPr lang="es-ES" altLang="en-US" sz="1800">
              <a:solidFill>
                <a:srgbClr val="FFFFFF"/>
              </a:solidFill>
            </a:endParaRPr>
          </a:p>
        </p:txBody>
      </p:sp>
      <p:sp>
        <p:nvSpPr>
          <p:cNvPr id="13" name="TextBox 7">
            <a:extLst>
              <a:ext uri="{FF2B5EF4-FFF2-40B4-BE49-F238E27FC236}">
                <a16:creationId xmlns:a16="http://schemas.microsoft.com/office/drawing/2014/main" id="{42DE5B1D-92EE-4315-D38F-1F90A7579C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3174" y="6391684"/>
            <a:ext cx="2676176" cy="415871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Smart home and building solutions.</a:t>
            </a:r>
          </a:p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Global. Secure. Connected.</a:t>
            </a:r>
          </a:p>
        </p:txBody>
      </p:sp>
      <p:pic>
        <p:nvPicPr>
          <p:cNvPr id="4101" name="Imagen 21" descr="Worldmap.jpg">
            <a:extLst>
              <a:ext uri="{FF2B5EF4-FFF2-40B4-BE49-F238E27FC236}">
                <a16:creationId xmlns:a16="http://schemas.microsoft.com/office/drawing/2014/main" id="{6120C5BF-FC3C-E776-DA7D-0A75290BC64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926927" y="6340890"/>
            <a:ext cx="1149200" cy="488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02" name="TextBox 11">
            <a:extLst>
              <a:ext uri="{FF2B5EF4-FFF2-40B4-BE49-F238E27FC236}">
                <a16:creationId xmlns:a16="http://schemas.microsoft.com/office/drawing/2014/main" id="{B3C08594-5AB3-019A-368E-012FE981BA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66608" y="6340890"/>
            <a:ext cx="861900" cy="4619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chemeClr val="bg1"/>
                </a:solidFill>
                <a:latin typeface="Gotham Light" pitchFamily="50" charset="0"/>
              </a:rPr>
              <a:t>Join </a:t>
            </a:r>
            <a:r>
              <a:rPr lang="en-US" altLang="en-US" sz="1500">
                <a:solidFill>
                  <a:schemeClr val="bg1"/>
                </a:solidFill>
                <a:latin typeface="Gotham Medium" charset="0"/>
              </a:rPr>
              <a:t>us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800">
                <a:solidFill>
                  <a:schemeClr val="bg1"/>
                </a:solidFill>
                <a:latin typeface="Gotham Light" pitchFamily="50" charset="0"/>
              </a:rPr>
              <a:t>www.knx.org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CB18D3-854F-DE17-CE7A-29216EDA0F9A}"/>
              </a:ext>
            </a:extLst>
          </p:cNvPr>
          <p:cNvSpPr txBox="1"/>
          <p:nvPr/>
        </p:nvSpPr>
        <p:spPr>
          <a:xfrm>
            <a:off x="690473" y="1296825"/>
            <a:ext cx="842007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Photovoltaic app (PV)</a:t>
            </a:r>
            <a:endParaRPr lang="en-US" sz="2500" dirty="0">
              <a:solidFill>
                <a:schemeClr val="tx1">
                  <a:lumMod val="75000"/>
                  <a:lumOff val="25000"/>
                </a:schemeClr>
              </a:solidFill>
              <a:latin typeface="Gotham Medium"/>
              <a:cs typeface="Gotham Medium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6BFC3FF-3726-9751-0A73-1FC63B92AFB0}"/>
              </a:ext>
            </a:extLst>
          </p:cNvPr>
          <p:cNvSpPr txBox="1"/>
          <p:nvPr/>
        </p:nvSpPr>
        <p:spPr>
          <a:xfrm>
            <a:off x="687298" y="2004939"/>
            <a:ext cx="1082283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Simulates a solar inverter providing data regarding present renewable energy</a:t>
            </a:r>
          </a:p>
          <a:p>
            <a:pPr marL="285750" indent="-285750">
              <a:buFontTx/>
              <a:buChar char="-"/>
            </a:pPr>
            <a:r>
              <a:rPr lang="en-US" dirty="0"/>
              <a:t>Enables adjustment (by means of a slider) of the solar production value (0–10 kW) for testing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97ABB39-4FB7-BB38-EFC9-CE2B46B335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2243" y="3196579"/>
            <a:ext cx="3194214" cy="1358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2963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55A5F-F8FD-66FE-4E8C-28F4B253E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3">
            <a:extLst>
              <a:ext uri="{FF2B5EF4-FFF2-40B4-BE49-F238E27FC236}">
                <a16:creationId xmlns:a16="http://schemas.microsoft.com/office/drawing/2014/main" id="{98C3EBC2-C3F2-A507-55E0-BC2B55B1450F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6188" y="440922"/>
            <a:ext cx="1104756" cy="479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Rectángulo 17">
            <a:extLst>
              <a:ext uri="{FF2B5EF4-FFF2-40B4-BE49-F238E27FC236}">
                <a16:creationId xmlns:a16="http://schemas.microsoft.com/office/drawing/2014/main" id="{6C89F901-6D96-80B0-E762-E477BBAC42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6309145"/>
            <a:ext cx="12190413" cy="549203"/>
          </a:xfrm>
          <a:prstGeom prst="rect">
            <a:avLst/>
          </a:prstGeom>
          <a:solidFill>
            <a:srgbClr val="262626"/>
          </a:solidFill>
          <a:ln w="9525">
            <a:solidFill>
              <a:srgbClr val="4A7EBB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8"/>
              </a:srgbClr>
            </a:outerShdw>
          </a:effectLst>
        </p:spPr>
        <p:txBody>
          <a:bodyPr anchor="ctr"/>
          <a:lstStyle>
            <a:lvl1pPr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>
              <a:defRPr/>
            </a:pPr>
            <a:endParaRPr lang="es-ES" altLang="en-US" sz="1800">
              <a:solidFill>
                <a:srgbClr val="FFFFFF"/>
              </a:solidFill>
            </a:endParaRPr>
          </a:p>
        </p:txBody>
      </p:sp>
      <p:sp>
        <p:nvSpPr>
          <p:cNvPr id="13" name="TextBox 7">
            <a:extLst>
              <a:ext uri="{FF2B5EF4-FFF2-40B4-BE49-F238E27FC236}">
                <a16:creationId xmlns:a16="http://schemas.microsoft.com/office/drawing/2014/main" id="{78EF7164-A043-A964-5E08-0B199EEA3D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3174" y="6391684"/>
            <a:ext cx="2676176" cy="415871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Smart home and building solutions.</a:t>
            </a:r>
          </a:p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Global. Secure. Connected.</a:t>
            </a:r>
          </a:p>
        </p:txBody>
      </p:sp>
      <p:pic>
        <p:nvPicPr>
          <p:cNvPr id="4101" name="Imagen 21" descr="Worldmap.jpg">
            <a:extLst>
              <a:ext uri="{FF2B5EF4-FFF2-40B4-BE49-F238E27FC236}">
                <a16:creationId xmlns:a16="http://schemas.microsoft.com/office/drawing/2014/main" id="{3D7867E7-D612-4888-5375-28614498A8A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926927" y="6340890"/>
            <a:ext cx="1149200" cy="488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02" name="TextBox 11">
            <a:extLst>
              <a:ext uri="{FF2B5EF4-FFF2-40B4-BE49-F238E27FC236}">
                <a16:creationId xmlns:a16="http://schemas.microsoft.com/office/drawing/2014/main" id="{C3680392-1160-B15F-FDEF-5F08E3D0FF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66608" y="6340890"/>
            <a:ext cx="861900" cy="4619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chemeClr val="bg1"/>
                </a:solidFill>
                <a:latin typeface="Gotham Light" pitchFamily="50" charset="0"/>
              </a:rPr>
              <a:t>Join </a:t>
            </a:r>
            <a:r>
              <a:rPr lang="en-US" altLang="en-US" sz="1500">
                <a:solidFill>
                  <a:schemeClr val="bg1"/>
                </a:solidFill>
                <a:latin typeface="Gotham Medium" charset="0"/>
              </a:rPr>
              <a:t>us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800">
                <a:solidFill>
                  <a:schemeClr val="bg1"/>
                </a:solidFill>
                <a:latin typeface="Gotham Light" pitchFamily="50" charset="0"/>
              </a:rPr>
              <a:t>www.knx.org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61114D-893F-8CC2-5800-584F36DAE58A}"/>
              </a:ext>
            </a:extLst>
          </p:cNvPr>
          <p:cNvSpPr txBox="1"/>
          <p:nvPr/>
        </p:nvSpPr>
        <p:spPr>
          <a:xfrm>
            <a:off x="690473" y="1296825"/>
            <a:ext cx="842007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Central Energy Manager app (CEM)</a:t>
            </a:r>
            <a:endParaRPr lang="en-US" sz="2500" dirty="0">
              <a:solidFill>
                <a:schemeClr val="tx1">
                  <a:lumMod val="75000"/>
                  <a:lumOff val="25000"/>
                </a:schemeClr>
              </a:solidFill>
              <a:latin typeface="Gotham Medium"/>
              <a:cs typeface="Gotham Medium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69354A5-7FC0-428B-C1C3-2B6E924F2DF1}"/>
              </a:ext>
            </a:extLst>
          </p:cNvPr>
          <p:cNvSpPr txBox="1"/>
          <p:nvPr/>
        </p:nvSpPr>
        <p:spPr>
          <a:xfrm>
            <a:off x="687298" y="2004939"/>
            <a:ext cx="1082283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Acts as the brain of the system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Two operation modes:</a:t>
            </a:r>
          </a:p>
          <a:p>
            <a:pPr marL="895335" lvl="1" indent="-285750">
              <a:buFontTx/>
              <a:buChar char="-"/>
            </a:pPr>
            <a:r>
              <a:rPr lang="en-US" b="1" dirty="0"/>
              <a:t>Sun Mode</a:t>
            </a:r>
            <a:r>
              <a:rPr lang="en-US" dirty="0"/>
              <a:t>: EV charges only if present renewable energy ≥ 4 kW</a:t>
            </a:r>
          </a:p>
          <a:p>
            <a:pPr marL="895335" lvl="1" indent="-285750">
              <a:buFontTx/>
              <a:buChar char="-"/>
            </a:pPr>
            <a:r>
              <a:rPr lang="en-US" b="1" dirty="0"/>
              <a:t>Mix Mode</a:t>
            </a:r>
            <a:r>
              <a:rPr lang="en-US" dirty="0"/>
              <a:t>: EV charges at 4 kW regardless of present renewable energy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Calculates and sends out the appropriate charging rate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3D4C2C0-5A23-2C75-2623-7B5EDA0AC4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0944" y="4130879"/>
            <a:ext cx="3194214" cy="1835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42081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7055C-73D9-7764-5EE7-13D764B51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3">
            <a:extLst>
              <a:ext uri="{FF2B5EF4-FFF2-40B4-BE49-F238E27FC236}">
                <a16:creationId xmlns:a16="http://schemas.microsoft.com/office/drawing/2014/main" id="{D02AFCD5-26C5-5A02-1712-7AB21A96A2C9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6188" y="440922"/>
            <a:ext cx="1104756" cy="479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Rectángulo 17">
            <a:extLst>
              <a:ext uri="{FF2B5EF4-FFF2-40B4-BE49-F238E27FC236}">
                <a16:creationId xmlns:a16="http://schemas.microsoft.com/office/drawing/2014/main" id="{16551032-E9B0-D753-E7E7-ED7DA6C2D7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6309145"/>
            <a:ext cx="12190413" cy="549203"/>
          </a:xfrm>
          <a:prstGeom prst="rect">
            <a:avLst/>
          </a:prstGeom>
          <a:solidFill>
            <a:srgbClr val="262626"/>
          </a:solidFill>
          <a:ln w="9525">
            <a:solidFill>
              <a:srgbClr val="4A7EBB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8"/>
              </a:srgbClr>
            </a:outerShdw>
          </a:effectLst>
        </p:spPr>
        <p:txBody>
          <a:bodyPr anchor="ctr"/>
          <a:lstStyle>
            <a:lvl1pPr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>
              <a:defRPr/>
            </a:pPr>
            <a:endParaRPr lang="es-ES" altLang="en-US" sz="1800">
              <a:solidFill>
                <a:srgbClr val="FFFFFF"/>
              </a:solidFill>
            </a:endParaRPr>
          </a:p>
        </p:txBody>
      </p:sp>
      <p:sp>
        <p:nvSpPr>
          <p:cNvPr id="13" name="TextBox 7">
            <a:extLst>
              <a:ext uri="{FF2B5EF4-FFF2-40B4-BE49-F238E27FC236}">
                <a16:creationId xmlns:a16="http://schemas.microsoft.com/office/drawing/2014/main" id="{1EDF0E29-6582-6155-1814-BC26E1B0E6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3174" y="6391684"/>
            <a:ext cx="2676176" cy="415871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Smart home and building solutions.</a:t>
            </a:r>
          </a:p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Global. Secure. Connected.</a:t>
            </a:r>
          </a:p>
        </p:txBody>
      </p:sp>
      <p:pic>
        <p:nvPicPr>
          <p:cNvPr id="4101" name="Imagen 21" descr="Worldmap.jpg">
            <a:extLst>
              <a:ext uri="{FF2B5EF4-FFF2-40B4-BE49-F238E27FC236}">
                <a16:creationId xmlns:a16="http://schemas.microsoft.com/office/drawing/2014/main" id="{CC36310E-0BB0-09E7-9AB4-51754C35C48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926927" y="6340890"/>
            <a:ext cx="1149200" cy="488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02" name="TextBox 11">
            <a:extLst>
              <a:ext uri="{FF2B5EF4-FFF2-40B4-BE49-F238E27FC236}">
                <a16:creationId xmlns:a16="http://schemas.microsoft.com/office/drawing/2014/main" id="{1F27A5BC-F316-0B8F-CC35-D525E33FBE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66608" y="6340890"/>
            <a:ext cx="861900" cy="4619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chemeClr val="bg1"/>
                </a:solidFill>
                <a:latin typeface="Gotham Light" pitchFamily="50" charset="0"/>
              </a:rPr>
              <a:t>Join </a:t>
            </a:r>
            <a:r>
              <a:rPr lang="en-US" altLang="en-US" sz="1500">
                <a:solidFill>
                  <a:schemeClr val="bg1"/>
                </a:solidFill>
                <a:latin typeface="Gotham Medium" charset="0"/>
              </a:rPr>
              <a:t>us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800">
                <a:solidFill>
                  <a:schemeClr val="bg1"/>
                </a:solidFill>
                <a:latin typeface="Gotham Light" pitchFamily="50" charset="0"/>
              </a:rPr>
              <a:t>www.knx.org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3FC7136-7F3E-78EB-1B01-3CE4DB729D67}"/>
              </a:ext>
            </a:extLst>
          </p:cNvPr>
          <p:cNvSpPr txBox="1"/>
          <p:nvPr/>
        </p:nvSpPr>
        <p:spPr>
          <a:xfrm>
            <a:off x="690473" y="1296825"/>
            <a:ext cx="842007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EV Charger app (Charger)</a:t>
            </a:r>
            <a:endParaRPr lang="en-US" sz="2500" dirty="0">
              <a:solidFill>
                <a:schemeClr val="tx1">
                  <a:lumMod val="75000"/>
                  <a:lumOff val="25000"/>
                </a:schemeClr>
              </a:solidFill>
              <a:latin typeface="Gotham Medium"/>
              <a:cs typeface="Gotham Medium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0DC70A8-42B9-29F8-29C9-1D2335C0E3A1}"/>
              </a:ext>
            </a:extLst>
          </p:cNvPr>
          <p:cNvSpPr txBox="1"/>
          <p:nvPr/>
        </p:nvSpPr>
        <p:spPr>
          <a:xfrm>
            <a:off x="687298" y="2004939"/>
            <a:ext cx="108228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Represents an EV charger</a:t>
            </a:r>
          </a:p>
          <a:p>
            <a:pPr marL="285750" indent="-285750">
              <a:buFontTx/>
              <a:buChar char="-"/>
            </a:pPr>
            <a:r>
              <a:rPr lang="en-US" dirty="0"/>
              <a:t>Receives and applies the charging request from the CEM app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280BEFA-7669-2F54-EFF9-B187D9EA81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9139" y="3314648"/>
            <a:ext cx="3194214" cy="1378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17197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77AAAE-1E03-CE8A-8F97-9F279C521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3">
            <a:extLst>
              <a:ext uri="{FF2B5EF4-FFF2-40B4-BE49-F238E27FC236}">
                <a16:creationId xmlns:a16="http://schemas.microsoft.com/office/drawing/2014/main" id="{8700C211-3C10-6092-60D5-627305C89028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6188" y="440922"/>
            <a:ext cx="1104756" cy="479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Rectángulo 17">
            <a:extLst>
              <a:ext uri="{FF2B5EF4-FFF2-40B4-BE49-F238E27FC236}">
                <a16:creationId xmlns:a16="http://schemas.microsoft.com/office/drawing/2014/main" id="{6882B226-C084-1800-C088-9A86873A4B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6309145"/>
            <a:ext cx="12190413" cy="549203"/>
          </a:xfrm>
          <a:prstGeom prst="rect">
            <a:avLst/>
          </a:prstGeom>
          <a:solidFill>
            <a:srgbClr val="262626"/>
          </a:solidFill>
          <a:ln w="9525">
            <a:solidFill>
              <a:srgbClr val="4A7EBB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8"/>
              </a:srgbClr>
            </a:outerShdw>
          </a:effectLst>
        </p:spPr>
        <p:txBody>
          <a:bodyPr anchor="ctr"/>
          <a:lstStyle>
            <a:lvl1pPr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>
              <a:defRPr/>
            </a:pPr>
            <a:endParaRPr lang="es-ES" altLang="en-US" sz="1800">
              <a:solidFill>
                <a:srgbClr val="FFFFFF"/>
              </a:solidFill>
            </a:endParaRPr>
          </a:p>
        </p:txBody>
      </p:sp>
      <p:sp>
        <p:nvSpPr>
          <p:cNvPr id="13" name="TextBox 7">
            <a:extLst>
              <a:ext uri="{FF2B5EF4-FFF2-40B4-BE49-F238E27FC236}">
                <a16:creationId xmlns:a16="http://schemas.microsoft.com/office/drawing/2014/main" id="{1AB28C3F-6103-56BA-DE59-1AD9CAD684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3174" y="6391684"/>
            <a:ext cx="2676176" cy="415871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Smart home and building solutions.</a:t>
            </a:r>
          </a:p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Global. Secure. Connected.</a:t>
            </a:r>
          </a:p>
        </p:txBody>
      </p:sp>
      <p:pic>
        <p:nvPicPr>
          <p:cNvPr id="4101" name="Imagen 21" descr="Worldmap.jpg">
            <a:extLst>
              <a:ext uri="{FF2B5EF4-FFF2-40B4-BE49-F238E27FC236}">
                <a16:creationId xmlns:a16="http://schemas.microsoft.com/office/drawing/2014/main" id="{F0FC526B-4F76-1775-4175-742F225D858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926927" y="6340890"/>
            <a:ext cx="1149200" cy="488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02" name="TextBox 11">
            <a:extLst>
              <a:ext uri="{FF2B5EF4-FFF2-40B4-BE49-F238E27FC236}">
                <a16:creationId xmlns:a16="http://schemas.microsoft.com/office/drawing/2014/main" id="{AE8A2094-9517-8CD0-C061-FAABAEFA62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66608" y="6340890"/>
            <a:ext cx="861900" cy="4619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chemeClr val="bg1"/>
                </a:solidFill>
                <a:latin typeface="Gotham Light" pitchFamily="50" charset="0"/>
              </a:rPr>
              <a:t>Join </a:t>
            </a:r>
            <a:r>
              <a:rPr lang="en-US" altLang="en-US" sz="1500">
                <a:solidFill>
                  <a:schemeClr val="bg1"/>
                </a:solidFill>
                <a:latin typeface="Gotham Medium" charset="0"/>
              </a:rPr>
              <a:t>us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800">
                <a:solidFill>
                  <a:schemeClr val="bg1"/>
                </a:solidFill>
                <a:latin typeface="Gotham Light" pitchFamily="50" charset="0"/>
              </a:rPr>
              <a:t>www.knx.org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27D48F3-8D0C-0F32-4AA5-84E79B927D1D}"/>
              </a:ext>
            </a:extLst>
          </p:cNvPr>
          <p:cNvSpPr txBox="1"/>
          <p:nvPr/>
        </p:nvSpPr>
        <p:spPr>
          <a:xfrm>
            <a:off x="690473" y="1296825"/>
            <a:ext cx="842007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EMS apps: c</a:t>
            </a:r>
            <a:r>
              <a:rPr lang="en-US" sz="2800" dirty="0"/>
              <a:t>onfiguration</a:t>
            </a:r>
          </a:p>
          <a:p>
            <a:pPr algn="l"/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 </a:t>
            </a:r>
            <a:endParaRPr lang="en-US" sz="2500" dirty="0">
              <a:solidFill>
                <a:schemeClr val="tx1">
                  <a:lumMod val="75000"/>
                  <a:lumOff val="25000"/>
                </a:schemeClr>
              </a:solidFill>
              <a:latin typeface="Gotham Medium"/>
              <a:cs typeface="Gotham Medium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3E76B5-DA64-5888-1FD3-C578B50FA1CC}"/>
              </a:ext>
            </a:extLst>
          </p:cNvPr>
          <p:cNvSpPr txBox="1"/>
          <p:nvPr/>
        </p:nvSpPr>
        <p:spPr>
          <a:xfrm>
            <a:off x="1028566" y="2137132"/>
            <a:ext cx="8531644" cy="38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600" dirty="0"/>
              <a:t>For the linking (and unlinking) </a:t>
            </a:r>
            <a:r>
              <a:rPr lang="en-US" sz="1600" u="sng" dirty="0"/>
              <a:t>no</a:t>
            </a:r>
            <a:r>
              <a:rPr lang="en-US" sz="1600" dirty="0"/>
              <a:t> tool is required</a:t>
            </a:r>
          </a:p>
          <a:p>
            <a:pPr marL="285750" indent="-285750">
              <a:buFontTx/>
              <a:buChar char="-"/>
            </a:pPr>
            <a:endParaRPr lang="en-US" sz="1600" dirty="0"/>
          </a:p>
          <a:p>
            <a:pPr marL="285750" indent="-285750">
              <a:buFontTx/>
              <a:buChar char="-"/>
            </a:pPr>
            <a:r>
              <a:rPr lang="en-US" sz="1600" dirty="0"/>
              <a:t>Base: </a:t>
            </a:r>
            <a:r>
              <a:rPr lang="en-US" sz="1600" b="1" dirty="0"/>
              <a:t>serial number of the CEM device</a:t>
            </a:r>
          </a:p>
          <a:p>
            <a:pPr marL="285750" indent="-285750">
              <a:buFontTx/>
              <a:buChar char="-"/>
            </a:pPr>
            <a:endParaRPr lang="en-US" sz="1600" dirty="0"/>
          </a:p>
          <a:p>
            <a:pPr marL="285750" indent="-285750">
              <a:buFontTx/>
              <a:buChar char="-"/>
            </a:pPr>
            <a:r>
              <a:rPr lang="en-US" sz="1600" dirty="0"/>
              <a:t>Procedure, at start up:</a:t>
            </a:r>
          </a:p>
          <a:p>
            <a:pPr marL="895335" lvl="1" indent="-285750">
              <a:buFontTx/>
              <a:buChar char="-"/>
            </a:pPr>
            <a:r>
              <a:rPr lang="en-US" sz="1600" dirty="0"/>
              <a:t>The CEM device derives its settings from its own serial number</a:t>
            </a:r>
          </a:p>
          <a:p>
            <a:pPr marL="895335" lvl="1" indent="-285750">
              <a:buFontTx/>
              <a:buChar char="-"/>
            </a:pPr>
            <a:r>
              <a:rPr lang="en-US" sz="1600" dirty="0"/>
              <a:t>The PV device also derives its settings from this (CEM) serial number</a:t>
            </a:r>
          </a:p>
          <a:p>
            <a:pPr marL="895335" lvl="1" indent="-285750">
              <a:buFontTx/>
              <a:buChar char="-"/>
            </a:pPr>
            <a:r>
              <a:rPr lang="en-US" sz="1600" dirty="0"/>
              <a:t>And also, the Charger device derives its settings from this (CEM) serial number</a:t>
            </a:r>
          </a:p>
          <a:p>
            <a:pPr marL="285750" indent="-285750">
              <a:buFontTx/>
              <a:buChar char="-"/>
            </a:pPr>
            <a:endParaRPr lang="en-US" sz="1600" dirty="0"/>
          </a:p>
          <a:p>
            <a:pPr marL="285750" indent="-285750">
              <a:buFontTx/>
              <a:buChar char="-"/>
            </a:pPr>
            <a:r>
              <a:rPr lang="en-US" sz="1600" dirty="0"/>
              <a:t>User: the CEM device comes with a Link feature (= transferring its serial number)</a:t>
            </a:r>
          </a:p>
          <a:p>
            <a:pPr marL="285750" indent="-285750">
              <a:buFontTx/>
              <a:buChar char="-"/>
            </a:pPr>
            <a:endParaRPr lang="en-US" sz="1600" dirty="0"/>
          </a:p>
          <a:p>
            <a:pPr marL="285750" indent="-285750">
              <a:buFontTx/>
              <a:buChar char="-"/>
            </a:pPr>
            <a:r>
              <a:rPr lang="en-US" sz="1600" dirty="0"/>
              <a:t>Settings:</a:t>
            </a:r>
          </a:p>
          <a:p>
            <a:pPr marL="895335" lvl="1" indent="-285750">
              <a:buFontTx/>
              <a:buChar char="-"/>
            </a:pPr>
            <a:r>
              <a:rPr lang="en-US" sz="1600" dirty="0"/>
              <a:t>Datapoints</a:t>
            </a:r>
          </a:p>
          <a:p>
            <a:pPr marL="895335" lvl="1" indent="-285750">
              <a:buFontTx/>
              <a:buChar char="-"/>
            </a:pPr>
            <a:r>
              <a:rPr lang="en-US" sz="1600" dirty="0"/>
              <a:t>IPv6 multicast address</a:t>
            </a:r>
          </a:p>
          <a:p>
            <a:pPr marL="895335" lvl="1" indent="-285750">
              <a:buFontTx/>
              <a:buChar char="-"/>
            </a:pPr>
            <a:r>
              <a:rPr lang="en-US" sz="1600" dirty="0"/>
              <a:t>OSCORE: data protection</a:t>
            </a:r>
          </a:p>
        </p:txBody>
      </p:sp>
    </p:spTree>
    <p:extLst>
      <p:ext uri="{BB962C8B-B14F-4D97-AF65-F5344CB8AC3E}">
        <p14:creationId xmlns:p14="http://schemas.microsoft.com/office/powerpoint/2010/main" val="16422321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E41429-39F7-D82E-C459-A0EA896AC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3">
            <a:extLst>
              <a:ext uri="{FF2B5EF4-FFF2-40B4-BE49-F238E27FC236}">
                <a16:creationId xmlns:a16="http://schemas.microsoft.com/office/drawing/2014/main" id="{997518FE-643F-2A25-34C8-2C2966CF6967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6188" y="440922"/>
            <a:ext cx="1104756" cy="479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Rectángulo 17">
            <a:extLst>
              <a:ext uri="{FF2B5EF4-FFF2-40B4-BE49-F238E27FC236}">
                <a16:creationId xmlns:a16="http://schemas.microsoft.com/office/drawing/2014/main" id="{DA1DF02A-9F86-F210-FED5-9A57CEF06A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6309145"/>
            <a:ext cx="12190413" cy="549203"/>
          </a:xfrm>
          <a:prstGeom prst="rect">
            <a:avLst/>
          </a:prstGeom>
          <a:solidFill>
            <a:srgbClr val="262626"/>
          </a:solidFill>
          <a:ln w="9525">
            <a:solidFill>
              <a:srgbClr val="4A7EBB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8"/>
              </a:srgbClr>
            </a:outerShdw>
          </a:effectLst>
        </p:spPr>
        <p:txBody>
          <a:bodyPr anchor="ctr"/>
          <a:lstStyle>
            <a:lvl1pPr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>
              <a:defRPr/>
            </a:pPr>
            <a:endParaRPr lang="es-ES" altLang="en-US" sz="1800">
              <a:solidFill>
                <a:srgbClr val="FFFFFF"/>
              </a:solidFill>
            </a:endParaRPr>
          </a:p>
        </p:txBody>
      </p:sp>
      <p:sp>
        <p:nvSpPr>
          <p:cNvPr id="13" name="TextBox 7">
            <a:extLst>
              <a:ext uri="{FF2B5EF4-FFF2-40B4-BE49-F238E27FC236}">
                <a16:creationId xmlns:a16="http://schemas.microsoft.com/office/drawing/2014/main" id="{CC03FF23-0BAB-FAA1-81D3-825393396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3174" y="6391684"/>
            <a:ext cx="2676176" cy="415871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Smart home and building solutions.</a:t>
            </a:r>
          </a:p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Global. Secure. Connected.</a:t>
            </a:r>
          </a:p>
        </p:txBody>
      </p:sp>
      <p:pic>
        <p:nvPicPr>
          <p:cNvPr id="4101" name="Imagen 21" descr="Worldmap.jpg">
            <a:extLst>
              <a:ext uri="{FF2B5EF4-FFF2-40B4-BE49-F238E27FC236}">
                <a16:creationId xmlns:a16="http://schemas.microsoft.com/office/drawing/2014/main" id="{C8E84F39-42EB-CE76-2904-00C6FBBDF3C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926927" y="6340890"/>
            <a:ext cx="1149200" cy="488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02" name="TextBox 11">
            <a:extLst>
              <a:ext uri="{FF2B5EF4-FFF2-40B4-BE49-F238E27FC236}">
                <a16:creationId xmlns:a16="http://schemas.microsoft.com/office/drawing/2014/main" id="{DCB93A5E-3650-DF27-45B2-835700E904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66608" y="6340890"/>
            <a:ext cx="861900" cy="4619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chemeClr val="bg1"/>
                </a:solidFill>
                <a:latin typeface="Gotham Light" pitchFamily="50" charset="0"/>
              </a:rPr>
              <a:t>Join </a:t>
            </a:r>
            <a:r>
              <a:rPr lang="en-US" altLang="en-US" sz="1500">
                <a:solidFill>
                  <a:schemeClr val="bg1"/>
                </a:solidFill>
                <a:latin typeface="Gotham Medium" charset="0"/>
              </a:rPr>
              <a:t>us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800">
                <a:solidFill>
                  <a:schemeClr val="bg1"/>
                </a:solidFill>
                <a:latin typeface="Gotham Light" pitchFamily="50" charset="0"/>
              </a:rPr>
              <a:t>www.knx.org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45EA035-2E0D-ADD0-AE63-E48EAD4AD2C2}"/>
              </a:ext>
            </a:extLst>
          </p:cNvPr>
          <p:cNvSpPr txBox="1"/>
          <p:nvPr/>
        </p:nvSpPr>
        <p:spPr>
          <a:xfrm>
            <a:off x="690473" y="1296825"/>
            <a:ext cx="842007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C</a:t>
            </a:r>
            <a:r>
              <a:rPr lang="en-US" sz="2800" dirty="0"/>
              <a:t>onfiguration concept/principle</a:t>
            </a:r>
          </a:p>
          <a:p>
            <a:pPr algn="l"/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 </a:t>
            </a:r>
            <a:endParaRPr lang="en-US" sz="2500" dirty="0">
              <a:solidFill>
                <a:schemeClr val="tx1">
                  <a:lumMod val="75000"/>
                  <a:lumOff val="25000"/>
                </a:schemeClr>
              </a:solidFill>
              <a:latin typeface="Gotham Medium"/>
              <a:cs typeface="Gotham Medium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1B9C45F-29C0-A8EB-24B7-7626EE3A26EA}"/>
              </a:ext>
            </a:extLst>
          </p:cNvPr>
          <p:cNvSpPr/>
          <p:nvPr/>
        </p:nvSpPr>
        <p:spPr>
          <a:xfrm>
            <a:off x="1287599" y="2793028"/>
            <a:ext cx="1335783" cy="66089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Serial nr.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A74CBD-5334-6FDC-6BB0-5B77768031D0}"/>
              </a:ext>
            </a:extLst>
          </p:cNvPr>
          <p:cNvSpPr/>
          <p:nvPr/>
        </p:nvSpPr>
        <p:spPr>
          <a:xfrm>
            <a:off x="3648222" y="2793027"/>
            <a:ext cx="1335783" cy="66089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Link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E34C447-AEB6-D959-1F54-51CF386DCD12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2623382" y="3123474"/>
            <a:ext cx="102484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468F9EAA-3A2F-7A9C-319D-5FF3F39664FA}"/>
              </a:ext>
            </a:extLst>
          </p:cNvPr>
          <p:cNvSpPr/>
          <p:nvPr/>
        </p:nvSpPr>
        <p:spPr>
          <a:xfrm>
            <a:off x="1287599" y="3784368"/>
            <a:ext cx="1335783" cy="660893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D226A1A-E890-B4E5-6A59-E246996E5A57}"/>
              </a:ext>
            </a:extLst>
          </p:cNvPr>
          <p:cNvSpPr/>
          <p:nvPr/>
        </p:nvSpPr>
        <p:spPr>
          <a:xfrm>
            <a:off x="3648222" y="3784367"/>
            <a:ext cx="1335783" cy="660893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Config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41D4451-C0E8-AEE5-EABC-FAE0654B19C6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2623382" y="4114814"/>
            <a:ext cx="102484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9D8C695B-D6A6-EE0B-02C8-8868535739EE}"/>
              </a:ext>
            </a:extLst>
          </p:cNvPr>
          <p:cNvSpPr txBox="1"/>
          <p:nvPr/>
        </p:nvSpPr>
        <p:spPr>
          <a:xfrm>
            <a:off x="5619947" y="1991154"/>
            <a:ext cx="5546661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Principle: set up target device specific links to exchange target device specific configurations</a:t>
            </a:r>
          </a:p>
          <a:p>
            <a:endParaRPr lang="en-US" dirty="0"/>
          </a:p>
          <a:p>
            <a:r>
              <a:rPr lang="en-US" dirty="0"/>
              <a:t>Concept: set up the link and use it to transfer the configuration in one go</a:t>
            </a:r>
          </a:p>
          <a:p>
            <a:endParaRPr lang="en-US" dirty="0"/>
          </a:p>
          <a:p>
            <a:r>
              <a:rPr lang="en-US" dirty="0"/>
              <a:t>Humans:</a:t>
            </a:r>
          </a:p>
          <a:p>
            <a:pPr marL="285750" indent="-285750">
              <a:buFontTx/>
              <a:buChar char="-"/>
            </a:pPr>
            <a:r>
              <a:rPr lang="en-US" dirty="0"/>
              <a:t>What is your name? </a:t>
            </a:r>
            <a:r>
              <a:rPr lang="en-US" sz="1400" dirty="0"/>
              <a:t>(serial nr.)</a:t>
            </a:r>
          </a:p>
          <a:p>
            <a:pPr marL="285750" indent="-285750">
              <a:buFontTx/>
              <a:buChar char="-"/>
            </a:pPr>
            <a:r>
              <a:rPr lang="en-US" dirty="0"/>
              <a:t>My name is Roberto </a:t>
            </a:r>
            <a:r>
              <a:rPr lang="en-US" sz="1400" dirty="0"/>
              <a:t>(00fa0000001)</a:t>
            </a:r>
          </a:p>
          <a:p>
            <a:pPr marL="285750" indent="-285750">
              <a:buFontTx/>
              <a:buChar char="-"/>
            </a:pPr>
            <a:r>
              <a:rPr lang="en-US" dirty="0"/>
              <a:t>Okay listen Roberto, this:… is what I need you to do</a:t>
            </a:r>
          </a:p>
          <a:p>
            <a:pPr marL="285750" indent="-285750">
              <a:buFontTx/>
              <a:buChar char="-"/>
            </a:pPr>
            <a:r>
              <a:rPr lang="en-US" dirty="0"/>
              <a:t>And what is your name? </a:t>
            </a:r>
            <a:r>
              <a:rPr lang="en-US" sz="1400" dirty="0"/>
              <a:t>(serial nr.)</a:t>
            </a: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My name is Latha </a:t>
            </a:r>
            <a:r>
              <a:rPr lang="en-US" sz="1400" dirty="0"/>
              <a:t>(00fa0000002)</a:t>
            </a:r>
          </a:p>
          <a:p>
            <a:pPr marL="285750" indent="-285750">
              <a:buFontTx/>
              <a:buChar char="-"/>
            </a:pPr>
            <a:r>
              <a:rPr lang="en-US" dirty="0"/>
              <a:t>Okay listen Latha, this:… is what I need you to do</a:t>
            </a:r>
          </a:p>
          <a:p>
            <a:pPr marL="285750" indent="-285750">
              <a:buFontTx/>
              <a:buChar char="-"/>
            </a:pPr>
            <a:r>
              <a:rPr lang="en-US" dirty="0"/>
              <a:t>…</a:t>
            </a:r>
          </a:p>
          <a:p>
            <a:pPr marL="285750" indent="-2857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77724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27525-6B2D-7DA0-D0AA-55C483D5B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3">
            <a:extLst>
              <a:ext uri="{FF2B5EF4-FFF2-40B4-BE49-F238E27FC236}">
                <a16:creationId xmlns:a16="http://schemas.microsoft.com/office/drawing/2014/main" id="{4C78AB2E-47FA-0E86-F1D4-08522F648F40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6188" y="440922"/>
            <a:ext cx="1104756" cy="479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Rectángulo 17">
            <a:extLst>
              <a:ext uri="{FF2B5EF4-FFF2-40B4-BE49-F238E27FC236}">
                <a16:creationId xmlns:a16="http://schemas.microsoft.com/office/drawing/2014/main" id="{1678835F-D696-261C-116A-59F36B311E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6309145"/>
            <a:ext cx="12190413" cy="549203"/>
          </a:xfrm>
          <a:prstGeom prst="rect">
            <a:avLst/>
          </a:prstGeom>
          <a:solidFill>
            <a:srgbClr val="262626"/>
          </a:solidFill>
          <a:ln w="9525">
            <a:solidFill>
              <a:srgbClr val="4A7EBB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8"/>
              </a:srgbClr>
            </a:outerShdw>
          </a:effectLst>
        </p:spPr>
        <p:txBody>
          <a:bodyPr anchor="ctr"/>
          <a:lstStyle>
            <a:lvl1pPr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>
              <a:defRPr/>
            </a:pPr>
            <a:endParaRPr lang="es-ES" altLang="en-US" sz="1800">
              <a:solidFill>
                <a:srgbClr val="FFFFFF"/>
              </a:solidFill>
            </a:endParaRPr>
          </a:p>
        </p:txBody>
      </p:sp>
      <p:sp>
        <p:nvSpPr>
          <p:cNvPr id="13" name="TextBox 7">
            <a:extLst>
              <a:ext uri="{FF2B5EF4-FFF2-40B4-BE49-F238E27FC236}">
                <a16:creationId xmlns:a16="http://schemas.microsoft.com/office/drawing/2014/main" id="{68CFDAD8-1DFC-7D89-74E1-8A18E8A73C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3174" y="6391684"/>
            <a:ext cx="2676176" cy="415871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Smart home and building solutions.</a:t>
            </a:r>
          </a:p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Global. Secure. Connected.</a:t>
            </a:r>
          </a:p>
        </p:txBody>
      </p:sp>
      <p:pic>
        <p:nvPicPr>
          <p:cNvPr id="4101" name="Imagen 21" descr="Worldmap.jpg">
            <a:extLst>
              <a:ext uri="{FF2B5EF4-FFF2-40B4-BE49-F238E27FC236}">
                <a16:creationId xmlns:a16="http://schemas.microsoft.com/office/drawing/2014/main" id="{0916DBD1-BC85-C323-4089-1B0EEFC63F7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926927" y="6340890"/>
            <a:ext cx="1149200" cy="488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02" name="TextBox 11">
            <a:extLst>
              <a:ext uri="{FF2B5EF4-FFF2-40B4-BE49-F238E27FC236}">
                <a16:creationId xmlns:a16="http://schemas.microsoft.com/office/drawing/2014/main" id="{EBE6DF9F-F195-3702-F18F-15512E2F10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66608" y="6340890"/>
            <a:ext cx="861900" cy="4619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chemeClr val="bg1"/>
                </a:solidFill>
                <a:latin typeface="Gotham Light" pitchFamily="50" charset="0"/>
              </a:rPr>
              <a:t>Join </a:t>
            </a:r>
            <a:r>
              <a:rPr lang="en-US" altLang="en-US" sz="1500">
                <a:solidFill>
                  <a:schemeClr val="bg1"/>
                </a:solidFill>
                <a:latin typeface="Gotham Medium" charset="0"/>
              </a:rPr>
              <a:t>us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800">
                <a:solidFill>
                  <a:schemeClr val="bg1"/>
                </a:solidFill>
                <a:latin typeface="Gotham Light" pitchFamily="50" charset="0"/>
              </a:rPr>
              <a:t>www.knx.org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B5B7A50-4EE7-64C0-7648-2B87484E8523}"/>
              </a:ext>
            </a:extLst>
          </p:cNvPr>
          <p:cNvSpPr txBox="1"/>
          <p:nvPr/>
        </p:nvSpPr>
        <p:spPr>
          <a:xfrm>
            <a:off x="690473" y="1296825"/>
            <a:ext cx="842007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CEM app: how to link the other devices?</a:t>
            </a:r>
            <a:endParaRPr lang="en-US" sz="2800" dirty="0"/>
          </a:p>
          <a:p>
            <a:pPr algn="l"/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 </a:t>
            </a:r>
            <a:endParaRPr lang="en-US" sz="2500" dirty="0">
              <a:solidFill>
                <a:schemeClr val="tx1">
                  <a:lumMod val="75000"/>
                  <a:lumOff val="25000"/>
                </a:schemeClr>
              </a:solidFill>
              <a:latin typeface="Gotham Medium"/>
              <a:cs typeface="Gotham Medium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7E8DC2-39DA-F1E9-D547-8E5B306BAD9A}"/>
              </a:ext>
            </a:extLst>
          </p:cNvPr>
          <p:cNvSpPr txBox="1"/>
          <p:nvPr/>
        </p:nvSpPr>
        <p:spPr>
          <a:xfrm>
            <a:off x="1128810" y="2036668"/>
            <a:ext cx="4966395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Technical details: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3 datapoints</a:t>
            </a:r>
          </a:p>
          <a:p>
            <a:pPr marL="895335" lvl="1" indent="-285750">
              <a:buFontTx/>
              <a:buChar char="-"/>
            </a:pPr>
            <a:r>
              <a:rPr lang="en-US" dirty="0" err="1"/>
              <a:t>cflags</a:t>
            </a:r>
            <a:r>
              <a:rPr lang="en-US" dirty="0"/>
              <a:t> = w : write from medium</a:t>
            </a:r>
          </a:p>
          <a:p>
            <a:pPr marL="895335" lvl="1" indent="-285750">
              <a:buFontTx/>
              <a:buChar char="-"/>
            </a:pPr>
            <a:r>
              <a:rPr lang="en-US" dirty="0" err="1"/>
              <a:t>cflags</a:t>
            </a:r>
            <a:r>
              <a:rPr lang="en-US" dirty="0"/>
              <a:t> = t : transmit to medium</a:t>
            </a:r>
          </a:p>
          <a:p>
            <a:pPr marL="895335" lvl="1" indent="-285750">
              <a:buFontTx/>
              <a:buChar char="-"/>
            </a:pPr>
            <a:r>
              <a:rPr lang="en-US" dirty="0" err="1"/>
              <a:t>url</a:t>
            </a:r>
            <a:r>
              <a:rPr lang="en-US" dirty="0"/>
              <a:t> : /p/</a:t>
            </a:r>
            <a:r>
              <a:rPr lang="en-US" dirty="0" err="1"/>
              <a:t>pv</a:t>
            </a:r>
            <a:r>
              <a:rPr lang="en-US" dirty="0"/>
              <a:t> = present renewable energy</a:t>
            </a:r>
          </a:p>
          <a:p>
            <a:pPr marL="895335" lvl="1" indent="-285750">
              <a:buFontTx/>
              <a:buChar char="-"/>
            </a:pPr>
            <a:r>
              <a:rPr lang="en-US" dirty="0" err="1"/>
              <a:t>url</a:t>
            </a:r>
            <a:r>
              <a:rPr lang="en-US" dirty="0"/>
              <a:t> : /p/charger = requested charge rate</a:t>
            </a:r>
          </a:p>
          <a:p>
            <a:pPr marL="895335" lvl="1" indent="-285750">
              <a:buFontTx/>
              <a:buChar char="-"/>
            </a:pPr>
            <a:r>
              <a:rPr lang="en-US" dirty="0" err="1"/>
              <a:t>url</a:t>
            </a:r>
            <a:r>
              <a:rPr lang="en-US" dirty="0"/>
              <a:t> : </a:t>
            </a:r>
            <a:r>
              <a:rPr lang="en-US" dirty="0">
                <a:solidFill>
                  <a:srgbClr val="FF0000"/>
                </a:solidFill>
              </a:rPr>
              <a:t>/p/link = configuration link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IPv6 multicast: groups the devices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OSCORE: protection of the exchanged data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‘Enter Serial Number’: What is your name?</a:t>
            </a:r>
          </a:p>
          <a:p>
            <a:pPr marL="285750" indent="-285750">
              <a:buFontTx/>
              <a:buChar char="-"/>
            </a:pP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54052B8-D1C0-6F27-57C5-4C37C8DA62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5564" y="785167"/>
            <a:ext cx="4108661" cy="5181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2608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7A602-CD02-D30C-9545-5EE229279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3">
            <a:extLst>
              <a:ext uri="{FF2B5EF4-FFF2-40B4-BE49-F238E27FC236}">
                <a16:creationId xmlns:a16="http://schemas.microsoft.com/office/drawing/2014/main" id="{124E7DE2-3C1F-452E-57D8-FBB85C4C0B4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6188" y="440922"/>
            <a:ext cx="1104756" cy="479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Rectángulo 17">
            <a:extLst>
              <a:ext uri="{FF2B5EF4-FFF2-40B4-BE49-F238E27FC236}">
                <a16:creationId xmlns:a16="http://schemas.microsoft.com/office/drawing/2014/main" id="{8D50916B-7595-8869-9984-3535918660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6309145"/>
            <a:ext cx="12190413" cy="549203"/>
          </a:xfrm>
          <a:prstGeom prst="rect">
            <a:avLst/>
          </a:prstGeom>
          <a:solidFill>
            <a:srgbClr val="262626"/>
          </a:solidFill>
          <a:ln w="9525">
            <a:solidFill>
              <a:srgbClr val="4A7EBB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8"/>
              </a:srgbClr>
            </a:outerShdw>
          </a:effectLst>
        </p:spPr>
        <p:txBody>
          <a:bodyPr anchor="ctr"/>
          <a:lstStyle>
            <a:lvl1pPr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>
              <a:defRPr/>
            </a:pPr>
            <a:endParaRPr lang="es-ES" altLang="en-US" sz="1800">
              <a:solidFill>
                <a:srgbClr val="FFFFFF"/>
              </a:solidFill>
            </a:endParaRPr>
          </a:p>
        </p:txBody>
      </p:sp>
      <p:sp>
        <p:nvSpPr>
          <p:cNvPr id="13" name="TextBox 7">
            <a:extLst>
              <a:ext uri="{FF2B5EF4-FFF2-40B4-BE49-F238E27FC236}">
                <a16:creationId xmlns:a16="http://schemas.microsoft.com/office/drawing/2014/main" id="{8886B22A-BAFE-0FDC-DF04-6D124AAFCA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3174" y="6391684"/>
            <a:ext cx="2676176" cy="415871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Smart home and building solutions.</a:t>
            </a:r>
          </a:p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Global. Secure. Connected.</a:t>
            </a:r>
          </a:p>
        </p:txBody>
      </p:sp>
      <p:pic>
        <p:nvPicPr>
          <p:cNvPr id="4101" name="Imagen 21" descr="Worldmap.jpg">
            <a:extLst>
              <a:ext uri="{FF2B5EF4-FFF2-40B4-BE49-F238E27FC236}">
                <a16:creationId xmlns:a16="http://schemas.microsoft.com/office/drawing/2014/main" id="{137C7BEA-BA01-6456-1AF0-A4214B5E5BC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926927" y="6340890"/>
            <a:ext cx="1149200" cy="488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02" name="TextBox 11">
            <a:extLst>
              <a:ext uri="{FF2B5EF4-FFF2-40B4-BE49-F238E27FC236}">
                <a16:creationId xmlns:a16="http://schemas.microsoft.com/office/drawing/2014/main" id="{2CE659EA-88EF-F37B-B000-4D3E6F29030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66608" y="6340890"/>
            <a:ext cx="861900" cy="4619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chemeClr val="bg1"/>
                </a:solidFill>
                <a:latin typeface="Gotham Light" pitchFamily="50" charset="0"/>
              </a:rPr>
              <a:t>Join </a:t>
            </a:r>
            <a:r>
              <a:rPr lang="en-US" altLang="en-US" sz="1500">
                <a:solidFill>
                  <a:schemeClr val="bg1"/>
                </a:solidFill>
                <a:latin typeface="Gotham Medium" charset="0"/>
              </a:rPr>
              <a:t>us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800">
                <a:solidFill>
                  <a:schemeClr val="bg1"/>
                </a:solidFill>
                <a:latin typeface="Gotham Light" pitchFamily="50" charset="0"/>
              </a:rPr>
              <a:t>www.knx.org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6D06C0-D8E7-2446-D3E9-44D493A7B071}"/>
              </a:ext>
            </a:extLst>
          </p:cNvPr>
          <p:cNvSpPr txBox="1"/>
          <p:nvPr/>
        </p:nvSpPr>
        <p:spPr>
          <a:xfrm>
            <a:off x="690473" y="1296825"/>
            <a:ext cx="842007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PV app: how to link?</a:t>
            </a:r>
            <a:endParaRPr lang="en-US" sz="2800" dirty="0"/>
          </a:p>
          <a:p>
            <a:pPr algn="l"/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 </a:t>
            </a:r>
            <a:endParaRPr lang="en-US" sz="2500" dirty="0">
              <a:solidFill>
                <a:schemeClr val="tx1">
                  <a:lumMod val="75000"/>
                  <a:lumOff val="25000"/>
                </a:schemeClr>
              </a:solidFill>
              <a:latin typeface="Gotham Medium"/>
              <a:cs typeface="Gotham Medium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88239F-31D7-8928-017D-AEE12FAFEE26}"/>
              </a:ext>
            </a:extLst>
          </p:cNvPr>
          <p:cNvSpPr txBox="1"/>
          <p:nvPr/>
        </p:nvSpPr>
        <p:spPr>
          <a:xfrm>
            <a:off x="6658604" y="2063105"/>
            <a:ext cx="4841336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Technical details: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2 datapoints</a:t>
            </a:r>
          </a:p>
          <a:p>
            <a:pPr marL="895335" lvl="1" indent="-285750">
              <a:buFontTx/>
              <a:buChar char="-"/>
            </a:pPr>
            <a:r>
              <a:rPr lang="en-US" dirty="0" err="1"/>
              <a:t>cflags</a:t>
            </a:r>
            <a:r>
              <a:rPr lang="en-US" dirty="0"/>
              <a:t> = t : transmit to medium</a:t>
            </a:r>
          </a:p>
          <a:p>
            <a:pPr marL="895335" lvl="1" indent="-285750">
              <a:buFontTx/>
              <a:buChar char="-"/>
            </a:pPr>
            <a:r>
              <a:rPr lang="en-US" dirty="0" err="1"/>
              <a:t>cflags</a:t>
            </a:r>
            <a:r>
              <a:rPr lang="en-US" dirty="0"/>
              <a:t> = w : write from medium</a:t>
            </a:r>
          </a:p>
          <a:p>
            <a:pPr marL="895335" lvl="1" indent="-285750">
              <a:buFontTx/>
              <a:buChar char="-"/>
            </a:pPr>
            <a:r>
              <a:rPr lang="en-US" dirty="0" err="1"/>
              <a:t>url</a:t>
            </a:r>
            <a:r>
              <a:rPr lang="en-US" dirty="0"/>
              <a:t> : /p/</a:t>
            </a:r>
            <a:r>
              <a:rPr lang="en-US" dirty="0" err="1"/>
              <a:t>pv</a:t>
            </a:r>
            <a:r>
              <a:rPr lang="en-US" dirty="0"/>
              <a:t> = present renewable energy</a:t>
            </a:r>
          </a:p>
          <a:p>
            <a:pPr marL="895335" lvl="1" indent="-285750">
              <a:buFontTx/>
              <a:buChar char="-"/>
            </a:pPr>
            <a:r>
              <a:rPr lang="en-US" dirty="0" err="1"/>
              <a:t>url</a:t>
            </a:r>
            <a:r>
              <a:rPr lang="en-US" dirty="0"/>
              <a:t> : </a:t>
            </a:r>
            <a:r>
              <a:rPr lang="en-US" dirty="0">
                <a:solidFill>
                  <a:srgbClr val="FF0000"/>
                </a:solidFill>
              </a:rPr>
              <a:t>/p/CEM = configuration link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IPv6 multicast: groups the devices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OSCORE: protection of the exchanged data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‘Copy Serial Number’: My name is…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A1A920-9C47-39A6-A0B1-22388F2A90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0944" y="2063105"/>
            <a:ext cx="4108661" cy="366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0441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8D97F-C278-B990-29E2-6C60CC319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3">
            <a:extLst>
              <a:ext uri="{FF2B5EF4-FFF2-40B4-BE49-F238E27FC236}">
                <a16:creationId xmlns:a16="http://schemas.microsoft.com/office/drawing/2014/main" id="{794714D3-D210-458D-20AE-369513C2831E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6188" y="440922"/>
            <a:ext cx="1104756" cy="479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Rectángulo 17">
            <a:extLst>
              <a:ext uri="{FF2B5EF4-FFF2-40B4-BE49-F238E27FC236}">
                <a16:creationId xmlns:a16="http://schemas.microsoft.com/office/drawing/2014/main" id="{AC61C499-CAB5-DD08-920A-892EB7639F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6309145"/>
            <a:ext cx="12190413" cy="549203"/>
          </a:xfrm>
          <a:prstGeom prst="rect">
            <a:avLst/>
          </a:prstGeom>
          <a:solidFill>
            <a:srgbClr val="262626"/>
          </a:solidFill>
          <a:ln w="9525">
            <a:solidFill>
              <a:srgbClr val="4A7EBB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8"/>
              </a:srgbClr>
            </a:outerShdw>
          </a:effectLst>
        </p:spPr>
        <p:txBody>
          <a:bodyPr anchor="ctr"/>
          <a:lstStyle>
            <a:lvl1pPr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>
              <a:defRPr/>
            </a:pPr>
            <a:endParaRPr lang="es-ES" altLang="en-US" sz="1800">
              <a:solidFill>
                <a:srgbClr val="FFFFFF"/>
              </a:solidFill>
            </a:endParaRPr>
          </a:p>
        </p:txBody>
      </p:sp>
      <p:sp>
        <p:nvSpPr>
          <p:cNvPr id="13" name="TextBox 7">
            <a:extLst>
              <a:ext uri="{FF2B5EF4-FFF2-40B4-BE49-F238E27FC236}">
                <a16:creationId xmlns:a16="http://schemas.microsoft.com/office/drawing/2014/main" id="{211C0584-1437-B86A-AB83-659A01DAC4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3174" y="6391684"/>
            <a:ext cx="2676176" cy="415871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Smart home and building solutions.</a:t>
            </a:r>
          </a:p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Global. Secure. Connected.</a:t>
            </a:r>
          </a:p>
        </p:txBody>
      </p:sp>
      <p:pic>
        <p:nvPicPr>
          <p:cNvPr id="4101" name="Imagen 21" descr="Worldmap.jpg">
            <a:extLst>
              <a:ext uri="{FF2B5EF4-FFF2-40B4-BE49-F238E27FC236}">
                <a16:creationId xmlns:a16="http://schemas.microsoft.com/office/drawing/2014/main" id="{D312D97F-C887-C6A9-E33A-FF751F78F92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926927" y="6340890"/>
            <a:ext cx="1149200" cy="488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02" name="TextBox 11">
            <a:extLst>
              <a:ext uri="{FF2B5EF4-FFF2-40B4-BE49-F238E27FC236}">
                <a16:creationId xmlns:a16="http://schemas.microsoft.com/office/drawing/2014/main" id="{E0B556B3-19C0-51A4-E6AE-3DA52170819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66608" y="6340890"/>
            <a:ext cx="861900" cy="4619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chemeClr val="bg1"/>
                </a:solidFill>
                <a:latin typeface="Gotham Light" pitchFamily="50" charset="0"/>
              </a:rPr>
              <a:t>Join </a:t>
            </a:r>
            <a:r>
              <a:rPr lang="en-US" altLang="en-US" sz="1500">
                <a:solidFill>
                  <a:schemeClr val="bg1"/>
                </a:solidFill>
                <a:latin typeface="Gotham Medium" charset="0"/>
              </a:rPr>
              <a:t>us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800">
                <a:solidFill>
                  <a:schemeClr val="bg1"/>
                </a:solidFill>
                <a:latin typeface="Gotham Light" pitchFamily="50" charset="0"/>
              </a:rPr>
              <a:t>www.knx.org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D23866F-96FE-AA95-29EB-1DC93C962D01}"/>
              </a:ext>
            </a:extLst>
          </p:cNvPr>
          <p:cNvSpPr txBox="1"/>
          <p:nvPr/>
        </p:nvSpPr>
        <p:spPr>
          <a:xfrm>
            <a:off x="690473" y="1296825"/>
            <a:ext cx="842007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Charger app: how to link?</a:t>
            </a:r>
            <a:endParaRPr lang="en-US" sz="2800" dirty="0"/>
          </a:p>
          <a:p>
            <a:pPr algn="l"/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 </a:t>
            </a:r>
            <a:endParaRPr lang="en-US" sz="2500" dirty="0">
              <a:solidFill>
                <a:schemeClr val="tx1">
                  <a:lumMod val="75000"/>
                  <a:lumOff val="25000"/>
                </a:schemeClr>
              </a:solidFill>
              <a:latin typeface="Gotham Medium"/>
              <a:cs typeface="Gotham Medium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964451E-2F27-0B30-B7A2-D32B54263A43}"/>
              </a:ext>
            </a:extLst>
          </p:cNvPr>
          <p:cNvSpPr txBox="1"/>
          <p:nvPr/>
        </p:nvSpPr>
        <p:spPr>
          <a:xfrm>
            <a:off x="6250406" y="2237885"/>
            <a:ext cx="496103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Technical details: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2 datapoints</a:t>
            </a:r>
          </a:p>
          <a:p>
            <a:pPr marL="895335" lvl="1" indent="-285750">
              <a:buFontTx/>
              <a:buChar char="-"/>
            </a:pPr>
            <a:r>
              <a:rPr lang="en-US" dirty="0" err="1"/>
              <a:t>cflags</a:t>
            </a:r>
            <a:r>
              <a:rPr lang="en-US" dirty="0"/>
              <a:t> = w : write from medium</a:t>
            </a:r>
          </a:p>
          <a:p>
            <a:pPr marL="895335" lvl="1" indent="-285750">
              <a:buFontTx/>
              <a:buChar char="-"/>
            </a:pPr>
            <a:r>
              <a:rPr lang="en-US" dirty="0" err="1"/>
              <a:t>url</a:t>
            </a:r>
            <a:r>
              <a:rPr lang="en-US" dirty="0"/>
              <a:t> : /p/charger = requested charge rate</a:t>
            </a:r>
          </a:p>
          <a:p>
            <a:pPr marL="895335" lvl="1" indent="-285750">
              <a:buFontTx/>
              <a:buChar char="-"/>
            </a:pPr>
            <a:r>
              <a:rPr lang="en-US" dirty="0" err="1"/>
              <a:t>url</a:t>
            </a:r>
            <a:r>
              <a:rPr lang="en-US" dirty="0"/>
              <a:t> : </a:t>
            </a:r>
            <a:r>
              <a:rPr lang="en-US" dirty="0">
                <a:solidFill>
                  <a:srgbClr val="FF0000"/>
                </a:solidFill>
              </a:rPr>
              <a:t>/p/CEM = configuration link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IPv6 multicast: groups the devices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OSCORE: protection of the exchanged data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‘Copy Serial Number’: My name is…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C85BBA4-512F-BD89-30CB-B0AFE3D6A3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1262" y="2133989"/>
            <a:ext cx="4108661" cy="366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33567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D8CBB-780E-A7A8-4668-31A41C072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3">
            <a:extLst>
              <a:ext uri="{FF2B5EF4-FFF2-40B4-BE49-F238E27FC236}">
                <a16:creationId xmlns:a16="http://schemas.microsoft.com/office/drawing/2014/main" id="{52901F15-DD9C-56AC-B0FF-0C3B7DAEA56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6188" y="440922"/>
            <a:ext cx="1104756" cy="479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Rectángulo 17">
            <a:extLst>
              <a:ext uri="{FF2B5EF4-FFF2-40B4-BE49-F238E27FC236}">
                <a16:creationId xmlns:a16="http://schemas.microsoft.com/office/drawing/2014/main" id="{BFC67DDB-A6C2-88D4-DD09-B7E5B1A94A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6309145"/>
            <a:ext cx="12190413" cy="549203"/>
          </a:xfrm>
          <a:prstGeom prst="rect">
            <a:avLst/>
          </a:prstGeom>
          <a:solidFill>
            <a:srgbClr val="262626"/>
          </a:solidFill>
          <a:ln w="9525">
            <a:solidFill>
              <a:srgbClr val="4A7EBB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8"/>
              </a:srgbClr>
            </a:outerShdw>
          </a:effectLst>
        </p:spPr>
        <p:txBody>
          <a:bodyPr anchor="ctr"/>
          <a:lstStyle>
            <a:lvl1pPr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>
              <a:defRPr/>
            </a:pPr>
            <a:endParaRPr lang="es-ES" altLang="en-US" sz="1800">
              <a:solidFill>
                <a:srgbClr val="FFFFFF"/>
              </a:solidFill>
            </a:endParaRPr>
          </a:p>
        </p:txBody>
      </p:sp>
      <p:sp>
        <p:nvSpPr>
          <p:cNvPr id="13" name="TextBox 7">
            <a:extLst>
              <a:ext uri="{FF2B5EF4-FFF2-40B4-BE49-F238E27FC236}">
                <a16:creationId xmlns:a16="http://schemas.microsoft.com/office/drawing/2014/main" id="{390C760D-1664-9277-F6F6-BC7C2ECED7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3174" y="6391684"/>
            <a:ext cx="2676176" cy="415871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Smart home and building solutions.</a:t>
            </a:r>
          </a:p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Global. Secure. Connected.</a:t>
            </a:r>
          </a:p>
        </p:txBody>
      </p:sp>
      <p:pic>
        <p:nvPicPr>
          <p:cNvPr id="4101" name="Imagen 21" descr="Worldmap.jpg">
            <a:extLst>
              <a:ext uri="{FF2B5EF4-FFF2-40B4-BE49-F238E27FC236}">
                <a16:creationId xmlns:a16="http://schemas.microsoft.com/office/drawing/2014/main" id="{8940D01C-10C1-0226-22AA-15D57877AB5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926927" y="6340890"/>
            <a:ext cx="1149200" cy="488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02" name="TextBox 11">
            <a:extLst>
              <a:ext uri="{FF2B5EF4-FFF2-40B4-BE49-F238E27FC236}">
                <a16:creationId xmlns:a16="http://schemas.microsoft.com/office/drawing/2014/main" id="{4BE875CD-E4E5-C25A-9982-1751CFB2E6D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66608" y="6340890"/>
            <a:ext cx="861900" cy="4619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chemeClr val="bg1"/>
                </a:solidFill>
                <a:latin typeface="Gotham Light" pitchFamily="50" charset="0"/>
              </a:rPr>
              <a:t>Join </a:t>
            </a:r>
            <a:r>
              <a:rPr lang="en-US" altLang="en-US" sz="1500">
                <a:solidFill>
                  <a:schemeClr val="bg1"/>
                </a:solidFill>
                <a:latin typeface="Gotham Medium" charset="0"/>
              </a:rPr>
              <a:t>us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800">
                <a:solidFill>
                  <a:schemeClr val="bg1"/>
                </a:solidFill>
                <a:latin typeface="Gotham Light" pitchFamily="50" charset="0"/>
              </a:rPr>
              <a:t>www.knx.org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CCBB545-A549-1770-EA23-C83EB11EA197}"/>
              </a:ext>
            </a:extLst>
          </p:cNvPr>
          <p:cNvSpPr txBox="1"/>
          <p:nvPr/>
        </p:nvSpPr>
        <p:spPr>
          <a:xfrm>
            <a:off x="3081454" y="2804009"/>
            <a:ext cx="406978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EMS apps: demo</a:t>
            </a:r>
            <a:endParaRPr lang="en-US" sz="2800" dirty="0"/>
          </a:p>
          <a:p>
            <a:pPr algn="l"/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 </a:t>
            </a:r>
            <a:endParaRPr lang="en-US" sz="2500" dirty="0">
              <a:solidFill>
                <a:schemeClr val="tx1">
                  <a:lumMod val="75000"/>
                  <a:lumOff val="25000"/>
                </a:schemeClr>
              </a:solidFill>
              <a:latin typeface="Gotham Medium"/>
              <a:cs typeface="Gotham Medium"/>
            </a:endParaRPr>
          </a:p>
        </p:txBody>
      </p:sp>
    </p:spTree>
    <p:extLst>
      <p:ext uri="{BB962C8B-B14F-4D97-AF65-F5344CB8AC3E}">
        <p14:creationId xmlns:p14="http://schemas.microsoft.com/office/powerpoint/2010/main" val="40405460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4C82F-6C9D-0703-318C-55C5EAD27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3">
            <a:extLst>
              <a:ext uri="{FF2B5EF4-FFF2-40B4-BE49-F238E27FC236}">
                <a16:creationId xmlns:a16="http://schemas.microsoft.com/office/drawing/2014/main" id="{602BDB04-A069-E869-C657-1B9E4DCEE4AC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6188" y="440922"/>
            <a:ext cx="1104756" cy="479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Rectángulo 17">
            <a:extLst>
              <a:ext uri="{FF2B5EF4-FFF2-40B4-BE49-F238E27FC236}">
                <a16:creationId xmlns:a16="http://schemas.microsoft.com/office/drawing/2014/main" id="{0B3BAD59-2CAB-004C-E946-5A8300B28A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6309145"/>
            <a:ext cx="12190413" cy="549203"/>
          </a:xfrm>
          <a:prstGeom prst="rect">
            <a:avLst/>
          </a:prstGeom>
          <a:solidFill>
            <a:srgbClr val="262626"/>
          </a:solidFill>
          <a:ln w="9525">
            <a:solidFill>
              <a:srgbClr val="4A7EBB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8"/>
              </a:srgbClr>
            </a:outerShdw>
          </a:effectLst>
        </p:spPr>
        <p:txBody>
          <a:bodyPr anchor="ctr"/>
          <a:lstStyle>
            <a:lvl1pPr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>
              <a:defRPr/>
            </a:pPr>
            <a:endParaRPr lang="es-ES" altLang="en-US" sz="1800">
              <a:solidFill>
                <a:srgbClr val="FFFFFF"/>
              </a:solidFill>
            </a:endParaRPr>
          </a:p>
        </p:txBody>
      </p:sp>
      <p:sp>
        <p:nvSpPr>
          <p:cNvPr id="13" name="TextBox 7">
            <a:extLst>
              <a:ext uri="{FF2B5EF4-FFF2-40B4-BE49-F238E27FC236}">
                <a16:creationId xmlns:a16="http://schemas.microsoft.com/office/drawing/2014/main" id="{FB1CAAC1-0280-6F96-1781-8A89BC7777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3174" y="6391684"/>
            <a:ext cx="2676176" cy="415871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Smart home and building solutions.</a:t>
            </a:r>
          </a:p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Global. Secure. Connected.</a:t>
            </a:r>
          </a:p>
        </p:txBody>
      </p:sp>
      <p:pic>
        <p:nvPicPr>
          <p:cNvPr id="4101" name="Imagen 21" descr="Worldmap.jpg">
            <a:extLst>
              <a:ext uri="{FF2B5EF4-FFF2-40B4-BE49-F238E27FC236}">
                <a16:creationId xmlns:a16="http://schemas.microsoft.com/office/drawing/2014/main" id="{00C68B8A-0F9B-8623-B8ED-7458D269B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926927" y="6340890"/>
            <a:ext cx="1149200" cy="488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02" name="TextBox 11">
            <a:extLst>
              <a:ext uri="{FF2B5EF4-FFF2-40B4-BE49-F238E27FC236}">
                <a16:creationId xmlns:a16="http://schemas.microsoft.com/office/drawing/2014/main" id="{6FEFDC1E-62AC-E0FC-5EF0-29407ADC22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66608" y="6340890"/>
            <a:ext cx="861900" cy="4619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chemeClr val="bg1"/>
                </a:solidFill>
                <a:latin typeface="Gotham Light" pitchFamily="50" charset="0"/>
              </a:rPr>
              <a:t>Join </a:t>
            </a:r>
            <a:r>
              <a:rPr lang="en-US" altLang="en-US" sz="1500">
                <a:solidFill>
                  <a:schemeClr val="bg1"/>
                </a:solidFill>
                <a:latin typeface="Gotham Medium" charset="0"/>
              </a:rPr>
              <a:t>us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800">
                <a:solidFill>
                  <a:schemeClr val="bg1"/>
                </a:solidFill>
                <a:latin typeface="Gotham Light" pitchFamily="50" charset="0"/>
              </a:rPr>
              <a:t>www.knx.org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B0DDAA-8753-2099-FEB3-B2993A7B960C}"/>
              </a:ext>
            </a:extLst>
          </p:cNvPr>
          <p:cNvSpPr txBox="1"/>
          <p:nvPr/>
        </p:nvSpPr>
        <p:spPr>
          <a:xfrm>
            <a:off x="690473" y="1296825"/>
            <a:ext cx="842007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Open Source: get it from our GitLab repo</a:t>
            </a:r>
            <a:endParaRPr lang="en-US" sz="2800" dirty="0"/>
          </a:p>
          <a:p>
            <a:pPr algn="l"/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 </a:t>
            </a:r>
            <a:endParaRPr lang="en-US" sz="2500" dirty="0">
              <a:solidFill>
                <a:schemeClr val="tx1">
                  <a:lumMod val="75000"/>
                  <a:lumOff val="25000"/>
                </a:schemeClr>
              </a:solidFill>
              <a:latin typeface="Gotham Medium"/>
              <a:cs typeface="Gotham Medium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5C99879-ABBF-71E4-99AA-22C9D693BE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1130" y="1999643"/>
            <a:ext cx="7787508" cy="3858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24676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D546FE-2726-D1AD-87FE-27157B217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3">
            <a:extLst>
              <a:ext uri="{FF2B5EF4-FFF2-40B4-BE49-F238E27FC236}">
                <a16:creationId xmlns:a16="http://schemas.microsoft.com/office/drawing/2014/main" id="{3EE891A1-DD04-0038-EE4D-6E14D705150C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6188" y="440922"/>
            <a:ext cx="1104756" cy="479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Rectángulo 17">
            <a:extLst>
              <a:ext uri="{FF2B5EF4-FFF2-40B4-BE49-F238E27FC236}">
                <a16:creationId xmlns:a16="http://schemas.microsoft.com/office/drawing/2014/main" id="{BC8316C6-7801-4B40-D6A1-DD8EBA4A3D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6309145"/>
            <a:ext cx="12190413" cy="549203"/>
          </a:xfrm>
          <a:prstGeom prst="rect">
            <a:avLst/>
          </a:prstGeom>
          <a:solidFill>
            <a:srgbClr val="262626"/>
          </a:solidFill>
          <a:ln w="9525">
            <a:solidFill>
              <a:srgbClr val="4A7EBB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8"/>
              </a:srgbClr>
            </a:outerShdw>
          </a:effectLst>
        </p:spPr>
        <p:txBody>
          <a:bodyPr anchor="ctr"/>
          <a:lstStyle>
            <a:lvl1pPr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>
              <a:defRPr/>
            </a:pPr>
            <a:endParaRPr lang="es-ES" altLang="en-US" sz="1800">
              <a:solidFill>
                <a:srgbClr val="FFFFFF"/>
              </a:solidFill>
            </a:endParaRPr>
          </a:p>
        </p:txBody>
      </p:sp>
      <p:sp>
        <p:nvSpPr>
          <p:cNvPr id="13" name="TextBox 7">
            <a:extLst>
              <a:ext uri="{FF2B5EF4-FFF2-40B4-BE49-F238E27FC236}">
                <a16:creationId xmlns:a16="http://schemas.microsoft.com/office/drawing/2014/main" id="{36C46F7C-D19A-FDED-25E6-23CA83F875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3174" y="6391684"/>
            <a:ext cx="2676176" cy="415871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Smart home and building solutions.</a:t>
            </a:r>
          </a:p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Global. Secure. Connected.</a:t>
            </a:r>
          </a:p>
        </p:txBody>
      </p:sp>
      <p:pic>
        <p:nvPicPr>
          <p:cNvPr id="4101" name="Imagen 21" descr="Worldmap.jpg">
            <a:extLst>
              <a:ext uri="{FF2B5EF4-FFF2-40B4-BE49-F238E27FC236}">
                <a16:creationId xmlns:a16="http://schemas.microsoft.com/office/drawing/2014/main" id="{BB53E6EF-497A-BE37-CB00-38B5D8A2B19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926927" y="6340890"/>
            <a:ext cx="1149200" cy="488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02" name="TextBox 11">
            <a:extLst>
              <a:ext uri="{FF2B5EF4-FFF2-40B4-BE49-F238E27FC236}">
                <a16:creationId xmlns:a16="http://schemas.microsoft.com/office/drawing/2014/main" id="{6627C574-98DA-2DC1-E985-C32FA283BE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66608" y="6340890"/>
            <a:ext cx="861900" cy="4619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chemeClr val="bg1"/>
                </a:solidFill>
                <a:latin typeface="Gotham Light" pitchFamily="50" charset="0"/>
              </a:rPr>
              <a:t>Join </a:t>
            </a:r>
            <a:r>
              <a:rPr lang="en-US" altLang="en-US" sz="1500">
                <a:solidFill>
                  <a:schemeClr val="bg1"/>
                </a:solidFill>
                <a:latin typeface="Gotham Medium" charset="0"/>
              </a:rPr>
              <a:t>us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800">
                <a:solidFill>
                  <a:schemeClr val="bg1"/>
                </a:solidFill>
                <a:latin typeface="Gotham Light" pitchFamily="50" charset="0"/>
              </a:rPr>
              <a:t>www.knx.org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32A2BF-0E5D-C72B-2F38-D51D4A4FDE86}"/>
              </a:ext>
            </a:extLst>
          </p:cNvPr>
          <p:cNvSpPr txBox="1"/>
          <p:nvPr/>
        </p:nvSpPr>
        <p:spPr>
          <a:xfrm>
            <a:off x="690473" y="1296825"/>
            <a:ext cx="842007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EMS apps: c</a:t>
            </a:r>
            <a:r>
              <a:rPr lang="en-US" sz="2800" dirty="0"/>
              <a:t>onsiderations</a:t>
            </a:r>
          </a:p>
          <a:p>
            <a:pPr algn="l"/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 </a:t>
            </a:r>
            <a:endParaRPr lang="en-US" sz="2500" dirty="0">
              <a:solidFill>
                <a:schemeClr val="tx1">
                  <a:lumMod val="75000"/>
                  <a:lumOff val="25000"/>
                </a:schemeClr>
              </a:solidFill>
              <a:latin typeface="Gotham Medium"/>
              <a:cs typeface="Gotham Medium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BACCB6C-E933-982B-8B08-328E99526661}"/>
              </a:ext>
            </a:extLst>
          </p:cNvPr>
          <p:cNvSpPr txBox="1"/>
          <p:nvPr/>
        </p:nvSpPr>
        <p:spPr>
          <a:xfrm>
            <a:off x="1028566" y="2137132"/>
            <a:ext cx="8531644" cy="38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600" dirty="0"/>
              <a:t>Format of the exchanged power data = KNX standardized</a:t>
            </a:r>
          </a:p>
          <a:p>
            <a:pPr marL="895335" lvl="1" indent="-285750">
              <a:buFontTx/>
              <a:buChar char="-"/>
            </a:pPr>
            <a:r>
              <a:rPr lang="en-US" sz="1600" dirty="0"/>
              <a:t>4 datapoints</a:t>
            </a:r>
          </a:p>
          <a:p>
            <a:pPr marL="895335" lvl="1" indent="-285750">
              <a:buFontTx/>
              <a:buChar char="-"/>
            </a:pPr>
            <a:r>
              <a:rPr lang="en-US" sz="1600" dirty="0"/>
              <a:t>According to </a:t>
            </a:r>
            <a:r>
              <a:rPr lang="en-US" dirty="0"/>
              <a:t>DPT: 14.056, see KNX standard 3/7/2</a:t>
            </a:r>
          </a:p>
          <a:p>
            <a:pPr marL="1504920" lvl="2" indent="-285750">
              <a:buFontTx/>
              <a:buChar char="-"/>
            </a:pPr>
            <a:r>
              <a:rPr lang="en-US" dirty="0"/>
              <a:t>Size: 4 octets</a:t>
            </a:r>
          </a:p>
          <a:p>
            <a:pPr marL="1504920" lvl="2" indent="-285750">
              <a:buFontTx/>
              <a:buChar char="-"/>
            </a:pPr>
            <a:r>
              <a:rPr lang="en-US" dirty="0"/>
              <a:t>Unit: W</a:t>
            </a:r>
          </a:p>
          <a:p>
            <a:pPr marL="285750" indent="-285750">
              <a:buFontTx/>
              <a:buChar char="-"/>
            </a:pPr>
            <a:endParaRPr lang="en-US" sz="1600" dirty="0"/>
          </a:p>
          <a:p>
            <a:pPr marL="285750" indent="-285750">
              <a:buFontTx/>
              <a:buChar char="-"/>
            </a:pPr>
            <a:r>
              <a:rPr lang="en-US" sz="1600" dirty="0"/>
              <a:t>Commissioning:</a:t>
            </a:r>
          </a:p>
          <a:p>
            <a:pPr marL="895335" lvl="1" indent="-285750">
              <a:buFontTx/>
              <a:buChar char="-"/>
            </a:pPr>
            <a:r>
              <a:rPr lang="en-US" sz="1600" dirty="0"/>
              <a:t>CEM: Link feature</a:t>
            </a:r>
          </a:p>
          <a:p>
            <a:pPr marL="895335" lvl="1" indent="-285750">
              <a:buFontTx/>
              <a:buChar char="-"/>
            </a:pPr>
            <a:r>
              <a:rPr lang="en-US" sz="1600" dirty="0"/>
              <a:t>Open source mini-client</a:t>
            </a:r>
          </a:p>
          <a:p>
            <a:pPr marL="1504920" lvl="2" indent="-285750">
              <a:buFontTx/>
              <a:buChar char="-"/>
            </a:pPr>
            <a:r>
              <a:rPr lang="en-US" sz="1600" dirty="0"/>
              <a:t>Windows: in preparation</a:t>
            </a:r>
          </a:p>
          <a:p>
            <a:pPr marL="1504920" lvl="2" indent="-285750">
              <a:buFontTx/>
              <a:buChar char="-"/>
            </a:pPr>
            <a:r>
              <a:rPr lang="en-US" sz="1600" dirty="0"/>
              <a:t>Android and iOS: still undefined</a:t>
            </a:r>
          </a:p>
          <a:p>
            <a:pPr marL="285750" indent="-285750">
              <a:buFontTx/>
              <a:buChar char="-"/>
            </a:pPr>
            <a:endParaRPr lang="en-US" sz="1600" dirty="0"/>
          </a:p>
          <a:p>
            <a:pPr marL="285750" indent="-285750">
              <a:buFontTx/>
              <a:buChar char="-"/>
            </a:pPr>
            <a:r>
              <a:rPr lang="en-US" sz="1600" dirty="0"/>
              <a:t>Certification:</a:t>
            </a:r>
          </a:p>
          <a:p>
            <a:pPr marL="895335" lvl="1" indent="-285750">
              <a:buFontTx/>
              <a:buChar char="-"/>
            </a:pPr>
            <a:r>
              <a:rPr lang="en-US" sz="1600" dirty="0"/>
              <a:t>No need to change the format of the exchanged power data</a:t>
            </a:r>
          </a:p>
          <a:p>
            <a:pPr marL="895335" lvl="1" indent="-285750">
              <a:buFontTx/>
              <a:buChar char="-"/>
            </a:pPr>
            <a:r>
              <a:rPr lang="en-US" sz="1600" dirty="0"/>
              <a:t>The link/config datapoints cannot longer be used; commissioning by ETS instead</a:t>
            </a:r>
          </a:p>
        </p:txBody>
      </p:sp>
    </p:spTree>
    <p:extLst>
      <p:ext uri="{BB962C8B-B14F-4D97-AF65-F5344CB8AC3E}">
        <p14:creationId xmlns:p14="http://schemas.microsoft.com/office/powerpoint/2010/main" val="29871535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B7E4B0A-6892-4A0A-AE2C-6F4ADAF28F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Christophe Parthoens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6B4A55-526C-44FE-8377-35450416D443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47ED7E-8E2E-4DA7-9D2D-B4D23BB001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5146246-AF79-4FCB-9D97-0C2243F5859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/>
              <a:t>christophe.parthoens</a:t>
            </a:r>
            <a:r>
              <a:rPr lang="en-GB" dirty="0" err="1"/>
              <a:t>@</a:t>
            </a:r>
            <a:r>
              <a:rPr lang="en-GB" err="1"/>
              <a:t>knx</a:t>
            </a:r>
            <a:r>
              <a:rPr lang="en-GB"/>
              <a:t>.org</a:t>
            </a:r>
          </a:p>
        </p:txBody>
      </p:sp>
    </p:spTree>
    <p:extLst>
      <p:ext uri="{BB962C8B-B14F-4D97-AF65-F5344CB8AC3E}">
        <p14:creationId xmlns:p14="http://schemas.microsoft.com/office/powerpoint/2010/main" val="149517314"/>
      </p:ext>
    </p:extLst>
  </p:cSld>
  <p:clrMapOvr>
    <a:masterClrMapping/>
  </p:clrMapOvr>
</p:sld>
</file>

<file path=ppt/theme/theme1.xml><?xml version="1.0" encoding="utf-8"?>
<a:theme xmlns:a="http://schemas.openxmlformats.org/drawingml/2006/main" name="MAIN PAG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1059</Words>
  <Application>Microsoft Office PowerPoint</Application>
  <PresentationFormat>Custom</PresentationFormat>
  <Paragraphs>216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Calibri</vt:lpstr>
      <vt:lpstr>Gotham Light</vt:lpstr>
      <vt:lpstr>Gotham Medium</vt:lpstr>
      <vt:lpstr>Wingdings</vt:lpstr>
      <vt:lpstr>MAIN PAGE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*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Francesco Cusumano</dc:creator>
  <cp:lastModifiedBy>Christophe Parthoens</cp:lastModifiedBy>
  <cp:revision>283</cp:revision>
  <dcterms:created xsi:type="dcterms:W3CDTF">2018-01-30T08:55:51Z</dcterms:created>
  <dcterms:modified xsi:type="dcterms:W3CDTF">2025-10-22T13:32:26Z</dcterms:modified>
</cp:coreProperties>
</file>